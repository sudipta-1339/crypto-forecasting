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B97D"/>
    <a:srgbClr val="DEF1DB"/>
    <a:srgbClr val="CCECFF"/>
    <a:srgbClr val="1CB8C8"/>
    <a:srgbClr val="E49FF7"/>
    <a:srgbClr val="3E9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111F7E-1E95-406C-A2BB-40C94D78B520}" type="doc">
      <dgm:prSet loTypeId="urn:microsoft.com/office/officeart/2005/8/layout/process5" loCatId="process" qsTypeId="urn:microsoft.com/office/officeart/2005/8/quickstyle/3d3" qsCatId="3D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3FA26A78-CD2C-4C8F-AF0F-B06C354388E5}">
      <dgm:prSet phldrT="[Text]"/>
      <dgm:spPr/>
      <dgm:t>
        <a:bodyPr/>
        <a:lstStyle/>
        <a:p>
          <a:pPr>
            <a:buNone/>
          </a:pPr>
          <a:r>
            <a:rPr lang="en-IN" dirty="0">
              <a:solidFill>
                <a:srgbClr val="002060"/>
              </a:solidFill>
            </a:rPr>
            <a:t>Historical Cryptocurrency Dataset</a:t>
          </a:r>
        </a:p>
      </dgm:t>
    </dgm:pt>
    <dgm:pt modelId="{512F0D21-4FBD-4B0E-8FD5-63693D8E5DF8}" type="parTrans" cxnId="{C9825279-2A50-490D-8C2D-0FF19662E720}">
      <dgm:prSet/>
      <dgm:spPr/>
      <dgm:t>
        <a:bodyPr/>
        <a:lstStyle/>
        <a:p>
          <a:endParaRPr lang="en-IN">
            <a:solidFill>
              <a:srgbClr val="002060"/>
            </a:solidFill>
          </a:endParaRPr>
        </a:p>
      </dgm:t>
    </dgm:pt>
    <dgm:pt modelId="{0A75A7E1-4667-4D80-BFBD-4EA96BF6E425}" type="sibTrans" cxnId="{C9825279-2A50-490D-8C2D-0FF19662E720}">
      <dgm:prSet/>
      <dgm:spPr/>
      <dgm:t>
        <a:bodyPr/>
        <a:lstStyle/>
        <a:p>
          <a:endParaRPr lang="en-IN">
            <a:solidFill>
              <a:srgbClr val="002060"/>
            </a:solidFill>
          </a:endParaRPr>
        </a:p>
      </dgm:t>
    </dgm:pt>
    <dgm:pt modelId="{7FD9DF2C-D572-45DC-9BDF-5EF6CC1076D3}">
      <dgm:prSet phldrT="[Text]"/>
      <dgm:spPr/>
      <dgm:t>
        <a:bodyPr/>
        <a:lstStyle/>
        <a:p>
          <a:pPr>
            <a:buNone/>
          </a:pPr>
          <a:r>
            <a:rPr lang="en-IN" dirty="0">
              <a:solidFill>
                <a:srgbClr val="002060"/>
              </a:solidFill>
            </a:rPr>
            <a:t>Data Cleaning</a:t>
          </a:r>
        </a:p>
      </dgm:t>
    </dgm:pt>
    <dgm:pt modelId="{EBE4C3AB-4A2E-4810-A1A0-D11AC89BE86E}" type="parTrans" cxnId="{ED357614-E27E-4E73-895F-329C7F0FF42D}">
      <dgm:prSet/>
      <dgm:spPr/>
      <dgm:t>
        <a:bodyPr/>
        <a:lstStyle/>
        <a:p>
          <a:endParaRPr lang="en-IN">
            <a:solidFill>
              <a:srgbClr val="002060"/>
            </a:solidFill>
          </a:endParaRPr>
        </a:p>
      </dgm:t>
    </dgm:pt>
    <dgm:pt modelId="{482F7D27-A923-44E4-B808-DB28F5E922AD}" type="sibTrans" cxnId="{ED357614-E27E-4E73-895F-329C7F0FF42D}">
      <dgm:prSet/>
      <dgm:spPr/>
      <dgm:t>
        <a:bodyPr/>
        <a:lstStyle/>
        <a:p>
          <a:endParaRPr lang="en-IN">
            <a:solidFill>
              <a:srgbClr val="002060"/>
            </a:solidFill>
          </a:endParaRPr>
        </a:p>
      </dgm:t>
    </dgm:pt>
    <dgm:pt modelId="{928FDBE4-85C0-4297-957C-31005387D0E4}">
      <dgm:prSet phldrT="[Text]"/>
      <dgm:spPr/>
      <dgm:t>
        <a:bodyPr/>
        <a:lstStyle/>
        <a:p>
          <a:pPr>
            <a:buNone/>
          </a:pPr>
          <a:r>
            <a:rPr lang="en-IN" dirty="0">
              <a:solidFill>
                <a:srgbClr val="002060"/>
              </a:solidFill>
            </a:rPr>
            <a:t>Data Preprocessing</a:t>
          </a:r>
        </a:p>
      </dgm:t>
    </dgm:pt>
    <dgm:pt modelId="{6A0576DC-1CAB-4865-882B-0A932BDE83FB}" type="parTrans" cxnId="{B69D27CC-8B88-418A-A885-FD0BB8550269}">
      <dgm:prSet/>
      <dgm:spPr/>
      <dgm:t>
        <a:bodyPr/>
        <a:lstStyle/>
        <a:p>
          <a:endParaRPr lang="en-IN">
            <a:solidFill>
              <a:srgbClr val="002060"/>
            </a:solidFill>
          </a:endParaRPr>
        </a:p>
      </dgm:t>
    </dgm:pt>
    <dgm:pt modelId="{A66266F8-A535-4420-AF5D-F3629BAFE2E9}" type="sibTrans" cxnId="{B69D27CC-8B88-418A-A885-FD0BB8550269}">
      <dgm:prSet/>
      <dgm:spPr/>
      <dgm:t>
        <a:bodyPr/>
        <a:lstStyle/>
        <a:p>
          <a:endParaRPr lang="en-IN">
            <a:solidFill>
              <a:srgbClr val="002060"/>
            </a:solidFill>
          </a:endParaRPr>
        </a:p>
      </dgm:t>
    </dgm:pt>
    <dgm:pt modelId="{82C85DF4-D597-4A55-981C-B21D30233283}">
      <dgm:prSet phldrT="[Text]"/>
      <dgm:spPr/>
      <dgm:t>
        <a:bodyPr/>
        <a:lstStyle/>
        <a:p>
          <a:pPr>
            <a:buNone/>
          </a:pPr>
          <a:r>
            <a:rPr lang="en-IN" dirty="0">
              <a:solidFill>
                <a:srgbClr val="002060"/>
              </a:solidFill>
            </a:rPr>
            <a:t>Exploratory Data Analysis(EDA)</a:t>
          </a:r>
        </a:p>
      </dgm:t>
    </dgm:pt>
    <dgm:pt modelId="{8E8C3ACF-328C-4019-9043-218D727B2852}" type="parTrans" cxnId="{78775BCA-0B3D-4799-ACEA-46881AC43ABA}">
      <dgm:prSet/>
      <dgm:spPr/>
      <dgm:t>
        <a:bodyPr/>
        <a:lstStyle/>
        <a:p>
          <a:endParaRPr lang="en-IN">
            <a:solidFill>
              <a:srgbClr val="002060"/>
            </a:solidFill>
          </a:endParaRPr>
        </a:p>
      </dgm:t>
    </dgm:pt>
    <dgm:pt modelId="{9382B0F0-5E51-43D3-9574-138FE7229333}" type="sibTrans" cxnId="{78775BCA-0B3D-4799-ACEA-46881AC43ABA}">
      <dgm:prSet/>
      <dgm:spPr/>
      <dgm:t>
        <a:bodyPr/>
        <a:lstStyle/>
        <a:p>
          <a:endParaRPr lang="en-IN">
            <a:solidFill>
              <a:srgbClr val="002060"/>
            </a:solidFill>
          </a:endParaRPr>
        </a:p>
      </dgm:t>
    </dgm:pt>
    <dgm:pt modelId="{63ECEB27-4750-4F27-8668-4439C0648198}">
      <dgm:prSet phldrT="[Text]"/>
      <dgm:spPr/>
      <dgm:t>
        <a:bodyPr/>
        <a:lstStyle/>
        <a:p>
          <a:pPr>
            <a:buNone/>
          </a:pPr>
          <a:r>
            <a:rPr lang="en-IN" dirty="0">
              <a:solidFill>
                <a:srgbClr val="002060"/>
              </a:solidFill>
            </a:rPr>
            <a:t>Moving Average Analysis</a:t>
          </a:r>
        </a:p>
      </dgm:t>
    </dgm:pt>
    <dgm:pt modelId="{D5B1176C-4150-43DE-9721-DAC009EE92E9}" type="parTrans" cxnId="{BF536C5C-6BBA-4FE5-AA5A-44B5ECF6A42A}">
      <dgm:prSet/>
      <dgm:spPr/>
      <dgm:t>
        <a:bodyPr/>
        <a:lstStyle/>
        <a:p>
          <a:endParaRPr lang="en-IN">
            <a:solidFill>
              <a:srgbClr val="002060"/>
            </a:solidFill>
          </a:endParaRPr>
        </a:p>
      </dgm:t>
    </dgm:pt>
    <dgm:pt modelId="{17371F44-45C7-47EA-8030-D4EB86C78D90}" type="sibTrans" cxnId="{BF536C5C-6BBA-4FE5-AA5A-44B5ECF6A42A}">
      <dgm:prSet/>
      <dgm:spPr/>
      <dgm:t>
        <a:bodyPr/>
        <a:lstStyle/>
        <a:p>
          <a:endParaRPr lang="en-IN">
            <a:solidFill>
              <a:srgbClr val="002060"/>
            </a:solidFill>
          </a:endParaRPr>
        </a:p>
      </dgm:t>
    </dgm:pt>
    <dgm:pt modelId="{3BFF3B66-C40B-4CBE-A609-02C00EF774EF}">
      <dgm:prSet/>
      <dgm:spPr/>
      <dgm:t>
        <a:bodyPr/>
        <a:lstStyle/>
        <a:p>
          <a:pPr>
            <a:buNone/>
          </a:pPr>
          <a:r>
            <a:rPr lang="en-IN" dirty="0">
              <a:solidFill>
                <a:srgbClr val="002060"/>
              </a:solidFill>
            </a:rPr>
            <a:t>Time Series Decomposition</a:t>
          </a:r>
        </a:p>
      </dgm:t>
    </dgm:pt>
    <dgm:pt modelId="{1E86F310-E2AC-4169-849C-F5AE24007369}" type="parTrans" cxnId="{3C89A2F7-653F-4457-9734-6FCBFB9C9828}">
      <dgm:prSet/>
      <dgm:spPr/>
      <dgm:t>
        <a:bodyPr/>
        <a:lstStyle/>
        <a:p>
          <a:endParaRPr lang="en-IN">
            <a:solidFill>
              <a:srgbClr val="002060"/>
            </a:solidFill>
          </a:endParaRPr>
        </a:p>
      </dgm:t>
    </dgm:pt>
    <dgm:pt modelId="{B9C9AA54-E30C-4D41-AC2F-548AE0E328BF}" type="sibTrans" cxnId="{3C89A2F7-653F-4457-9734-6FCBFB9C9828}">
      <dgm:prSet/>
      <dgm:spPr/>
      <dgm:t>
        <a:bodyPr/>
        <a:lstStyle/>
        <a:p>
          <a:endParaRPr lang="en-IN">
            <a:solidFill>
              <a:srgbClr val="002060"/>
            </a:solidFill>
          </a:endParaRPr>
        </a:p>
      </dgm:t>
    </dgm:pt>
    <dgm:pt modelId="{8CCFF8DC-C8C3-4DB0-AB82-3B608C99F0A4}">
      <dgm:prSet/>
      <dgm:spPr/>
      <dgm:t>
        <a:bodyPr/>
        <a:lstStyle/>
        <a:p>
          <a:pPr>
            <a:buNone/>
          </a:pPr>
          <a:r>
            <a:rPr lang="en-IN" dirty="0">
              <a:solidFill>
                <a:srgbClr val="002060"/>
              </a:solidFill>
            </a:rPr>
            <a:t>ARIMA Model Development</a:t>
          </a:r>
        </a:p>
      </dgm:t>
    </dgm:pt>
    <dgm:pt modelId="{99351196-8799-4FC0-9D40-35B3688D247A}" type="parTrans" cxnId="{CE4DF773-7D6E-4120-820C-228FC4622120}">
      <dgm:prSet/>
      <dgm:spPr/>
      <dgm:t>
        <a:bodyPr/>
        <a:lstStyle/>
        <a:p>
          <a:endParaRPr lang="en-IN">
            <a:solidFill>
              <a:srgbClr val="002060"/>
            </a:solidFill>
          </a:endParaRPr>
        </a:p>
      </dgm:t>
    </dgm:pt>
    <dgm:pt modelId="{C7901E7E-EF3D-45AD-87FA-7571F9AD5EE4}" type="sibTrans" cxnId="{CE4DF773-7D6E-4120-820C-228FC4622120}">
      <dgm:prSet/>
      <dgm:spPr/>
      <dgm:t>
        <a:bodyPr/>
        <a:lstStyle/>
        <a:p>
          <a:endParaRPr lang="en-IN">
            <a:solidFill>
              <a:srgbClr val="002060"/>
            </a:solidFill>
          </a:endParaRPr>
        </a:p>
      </dgm:t>
    </dgm:pt>
    <dgm:pt modelId="{D132CA3C-26A4-4339-B7C2-38666EA1E129}">
      <dgm:prSet/>
      <dgm:spPr/>
      <dgm:t>
        <a:bodyPr/>
        <a:lstStyle/>
        <a:p>
          <a:pPr>
            <a:buNone/>
          </a:pPr>
          <a:r>
            <a:rPr lang="en-IN" dirty="0">
              <a:solidFill>
                <a:srgbClr val="002060"/>
              </a:solidFill>
            </a:rPr>
            <a:t>Forecast Generation</a:t>
          </a:r>
        </a:p>
      </dgm:t>
    </dgm:pt>
    <dgm:pt modelId="{8D268B08-4B73-418E-9243-52818F2B9237}" type="parTrans" cxnId="{6950141F-E2F4-4EDF-B898-E67FB4E33926}">
      <dgm:prSet/>
      <dgm:spPr/>
      <dgm:t>
        <a:bodyPr/>
        <a:lstStyle/>
        <a:p>
          <a:endParaRPr lang="en-IN">
            <a:solidFill>
              <a:srgbClr val="002060"/>
            </a:solidFill>
          </a:endParaRPr>
        </a:p>
      </dgm:t>
    </dgm:pt>
    <dgm:pt modelId="{BED7EDB2-AD50-4462-BCDD-402733ACE6E6}" type="sibTrans" cxnId="{6950141F-E2F4-4EDF-B898-E67FB4E33926}">
      <dgm:prSet/>
      <dgm:spPr/>
      <dgm:t>
        <a:bodyPr/>
        <a:lstStyle/>
        <a:p>
          <a:endParaRPr lang="en-IN">
            <a:solidFill>
              <a:srgbClr val="002060"/>
            </a:solidFill>
          </a:endParaRPr>
        </a:p>
      </dgm:t>
    </dgm:pt>
    <dgm:pt modelId="{7305F6AE-D5F4-44F2-A0ED-D7B27E3CC042}">
      <dgm:prSet/>
      <dgm:spPr/>
      <dgm:t>
        <a:bodyPr/>
        <a:lstStyle/>
        <a:p>
          <a:pPr>
            <a:buNone/>
          </a:pPr>
          <a:r>
            <a:rPr lang="en-IN" dirty="0">
              <a:solidFill>
                <a:srgbClr val="002060"/>
              </a:solidFill>
            </a:rPr>
            <a:t>Result Analysis</a:t>
          </a:r>
        </a:p>
      </dgm:t>
    </dgm:pt>
    <dgm:pt modelId="{D8302EF9-8093-4A09-B6A8-BD431A16CC97}" type="parTrans" cxnId="{50AB8273-8310-4415-9BA3-3E7455366A40}">
      <dgm:prSet/>
      <dgm:spPr/>
      <dgm:t>
        <a:bodyPr/>
        <a:lstStyle/>
        <a:p>
          <a:endParaRPr lang="en-IN">
            <a:solidFill>
              <a:srgbClr val="002060"/>
            </a:solidFill>
          </a:endParaRPr>
        </a:p>
      </dgm:t>
    </dgm:pt>
    <dgm:pt modelId="{780A501B-7D55-4C21-8935-481ADBB27884}" type="sibTrans" cxnId="{50AB8273-8310-4415-9BA3-3E7455366A40}">
      <dgm:prSet/>
      <dgm:spPr/>
      <dgm:t>
        <a:bodyPr/>
        <a:lstStyle/>
        <a:p>
          <a:endParaRPr lang="en-IN">
            <a:solidFill>
              <a:srgbClr val="002060"/>
            </a:solidFill>
          </a:endParaRPr>
        </a:p>
      </dgm:t>
    </dgm:pt>
    <dgm:pt modelId="{618CCCCD-F6FE-4CEB-A82E-EAF6525F298E}" type="pres">
      <dgm:prSet presAssocID="{D2111F7E-1E95-406C-A2BB-40C94D78B520}" presName="diagram" presStyleCnt="0">
        <dgm:presLayoutVars>
          <dgm:dir/>
          <dgm:resizeHandles val="exact"/>
        </dgm:presLayoutVars>
      </dgm:prSet>
      <dgm:spPr/>
    </dgm:pt>
    <dgm:pt modelId="{D074DA12-A98D-4F16-88FD-34257BA7690E}" type="pres">
      <dgm:prSet presAssocID="{3FA26A78-CD2C-4C8F-AF0F-B06C354388E5}" presName="node" presStyleLbl="node1" presStyleIdx="0" presStyleCnt="9">
        <dgm:presLayoutVars>
          <dgm:bulletEnabled val="1"/>
        </dgm:presLayoutVars>
      </dgm:prSet>
      <dgm:spPr/>
    </dgm:pt>
    <dgm:pt modelId="{19C925AF-24DF-4A2A-9DF7-FB460848BCAA}" type="pres">
      <dgm:prSet presAssocID="{0A75A7E1-4667-4D80-BFBD-4EA96BF6E425}" presName="sibTrans" presStyleLbl="sibTrans2D1" presStyleIdx="0" presStyleCnt="8"/>
      <dgm:spPr/>
    </dgm:pt>
    <dgm:pt modelId="{4A98838D-323E-476E-AD31-D3DF0075C788}" type="pres">
      <dgm:prSet presAssocID="{0A75A7E1-4667-4D80-BFBD-4EA96BF6E425}" presName="connectorText" presStyleLbl="sibTrans2D1" presStyleIdx="0" presStyleCnt="8"/>
      <dgm:spPr/>
    </dgm:pt>
    <dgm:pt modelId="{C045ABD8-8276-45D3-9394-1C02D43935DA}" type="pres">
      <dgm:prSet presAssocID="{7FD9DF2C-D572-45DC-9BDF-5EF6CC1076D3}" presName="node" presStyleLbl="node1" presStyleIdx="1" presStyleCnt="9">
        <dgm:presLayoutVars>
          <dgm:bulletEnabled val="1"/>
        </dgm:presLayoutVars>
      </dgm:prSet>
      <dgm:spPr/>
    </dgm:pt>
    <dgm:pt modelId="{862E6AFF-D11E-494E-AC14-7034BAC1A626}" type="pres">
      <dgm:prSet presAssocID="{482F7D27-A923-44E4-B808-DB28F5E922AD}" presName="sibTrans" presStyleLbl="sibTrans2D1" presStyleIdx="1" presStyleCnt="8"/>
      <dgm:spPr/>
    </dgm:pt>
    <dgm:pt modelId="{B2FC559D-8BDB-40EB-B0CE-75D19E7DDC12}" type="pres">
      <dgm:prSet presAssocID="{482F7D27-A923-44E4-B808-DB28F5E922AD}" presName="connectorText" presStyleLbl="sibTrans2D1" presStyleIdx="1" presStyleCnt="8"/>
      <dgm:spPr/>
    </dgm:pt>
    <dgm:pt modelId="{D8007147-8B54-4F5C-AFB9-0397F8C2544B}" type="pres">
      <dgm:prSet presAssocID="{928FDBE4-85C0-4297-957C-31005387D0E4}" presName="node" presStyleLbl="node1" presStyleIdx="2" presStyleCnt="9">
        <dgm:presLayoutVars>
          <dgm:bulletEnabled val="1"/>
        </dgm:presLayoutVars>
      </dgm:prSet>
      <dgm:spPr/>
    </dgm:pt>
    <dgm:pt modelId="{5B7E65B2-422B-4665-931D-B6DAAC30B508}" type="pres">
      <dgm:prSet presAssocID="{A66266F8-A535-4420-AF5D-F3629BAFE2E9}" presName="sibTrans" presStyleLbl="sibTrans2D1" presStyleIdx="2" presStyleCnt="8"/>
      <dgm:spPr/>
    </dgm:pt>
    <dgm:pt modelId="{C2393A88-1A3C-4B43-B7A7-DAFFAB21E13A}" type="pres">
      <dgm:prSet presAssocID="{A66266F8-A535-4420-AF5D-F3629BAFE2E9}" presName="connectorText" presStyleLbl="sibTrans2D1" presStyleIdx="2" presStyleCnt="8"/>
      <dgm:spPr/>
    </dgm:pt>
    <dgm:pt modelId="{CAAC3CBF-3D19-414F-82ED-02E3E2D7AB73}" type="pres">
      <dgm:prSet presAssocID="{82C85DF4-D597-4A55-981C-B21D30233283}" presName="node" presStyleLbl="node1" presStyleIdx="3" presStyleCnt="9">
        <dgm:presLayoutVars>
          <dgm:bulletEnabled val="1"/>
        </dgm:presLayoutVars>
      </dgm:prSet>
      <dgm:spPr/>
    </dgm:pt>
    <dgm:pt modelId="{2712C4CF-1DD2-44A6-A85E-2315E9485D49}" type="pres">
      <dgm:prSet presAssocID="{9382B0F0-5E51-43D3-9574-138FE7229333}" presName="sibTrans" presStyleLbl="sibTrans2D1" presStyleIdx="3" presStyleCnt="8"/>
      <dgm:spPr/>
    </dgm:pt>
    <dgm:pt modelId="{C9B6D21B-8C4D-4615-8EBF-CFCAA2572A3E}" type="pres">
      <dgm:prSet presAssocID="{9382B0F0-5E51-43D3-9574-138FE7229333}" presName="connectorText" presStyleLbl="sibTrans2D1" presStyleIdx="3" presStyleCnt="8"/>
      <dgm:spPr/>
    </dgm:pt>
    <dgm:pt modelId="{967AD40C-91B2-49B9-B19C-48095C1F22D3}" type="pres">
      <dgm:prSet presAssocID="{63ECEB27-4750-4F27-8668-4439C0648198}" presName="node" presStyleLbl="node1" presStyleIdx="4" presStyleCnt="9">
        <dgm:presLayoutVars>
          <dgm:bulletEnabled val="1"/>
        </dgm:presLayoutVars>
      </dgm:prSet>
      <dgm:spPr/>
    </dgm:pt>
    <dgm:pt modelId="{6C59F18F-B997-41C6-8988-220D29BE64A3}" type="pres">
      <dgm:prSet presAssocID="{17371F44-45C7-47EA-8030-D4EB86C78D90}" presName="sibTrans" presStyleLbl="sibTrans2D1" presStyleIdx="4" presStyleCnt="8"/>
      <dgm:spPr/>
    </dgm:pt>
    <dgm:pt modelId="{820302BE-65CC-46D5-8D3A-F1AA87B8D2D6}" type="pres">
      <dgm:prSet presAssocID="{17371F44-45C7-47EA-8030-D4EB86C78D90}" presName="connectorText" presStyleLbl="sibTrans2D1" presStyleIdx="4" presStyleCnt="8"/>
      <dgm:spPr/>
    </dgm:pt>
    <dgm:pt modelId="{0BA33742-D3B0-4458-90DC-C7C4B2521654}" type="pres">
      <dgm:prSet presAssocID="{3BFF3B66-C40B-4CBE-A609-02C00EF774EF}" presName="node" presStyleLbl="node1" presStyleIdx="5" presStyleCnt="9">
        <dgm:presLayoutVars>
          <dgm:bulletEnabled val="1"/>
        </dgm:presLayoutVars>
      </dgm:prSet>
      <dgm:spPr/>
    </dgm:pt>
    <dgm:pt modelId="{0BA33EAD-819F-470C-8611-4F6DB53DADAC}" type="pres">
      <dgm:prSet presAssocID="{B9C9AA54-E30C-4D41-AC2F-548AE0E328BF}" presName="sibTrans" presStyleLbl="sibTrans2D1" presStyleIdx="5" presStyleCnt="8"/>
      <dgm:spPr/>
    </dgm:pt>
    <dgm:pt modelId="{27281EF1-3AB3-40A7-94D2-CAE0D6FB7EE9}" type="pres">
      <dgm:prSet presAssocID="{B9C9AA54-E30C-4D41-AC2F-548AE0E328BF}" presName="connectorText" presStyleLbl="sibTrans2D1" presStyleIdx="5" presStyleCnt="8"/>
      <dgm:spPr/>
    </dgm:pt>
    <dgm:pt modelId="{DC8968F8-7D43-49C9-88A4-79E6FDDF1F10}" type="pres">
      <dgm:prSet presAssocID="{8CCFF8DC-C8C3-4DB0-AB82-3B608C99F0A4}" presName="node" presStyleLbl="node1" presStyleIdx="6" presStyleCnt="9">
        <dgm:presLayoutVars>
          <dgm:bulletEnabled val="1"/>
        </dgm:presLayoutVars>
      </dgm:prSet>
      <dgm:spPr/>
    </dgm:pt>
    <dgm:pt modelId="{06CF4FAE-8C19-4775-8E5D-AE825956CC7F}" type="pres">
      <dgm:prSet presAssocID="{C7901E7E-EF3D-45AD-87FA-7571F9AD5EE4}" presName="sibTrans" presStyleLbl="sibTrans2D1" presStyleIdx="6" presStyleCnt="8"/>
      <dgm:spPr/>
    </dgm:pt>
    <dgm:pt modelId="{7049D2D0-EEAC-485B-87E7-2A0404F6441C}" type="pres">
      <dgm:prSet presAssocID="{C7901E7E-EF3D-45AD-87FA-7571F9AD5EE4}" presName="connectorText" presStyleLbl="sibTrans2D1" presStyleIdx="6" presStyleCnt="8"/>
      <dgm:spPr/>
    </dgm:pt>
    <dgm:pt modelId="{D55108E0-0B65-4D73-8844-3F907A5CDA84}" type="pres">
      <dgm:prSet presAssocID="{D132CA3C-26A4-4339-B7C2-38666EA1E129}" presName="node" presStyleLbl="node1" presStyleIdx="7" presStyleCnt="9">
        <dgm:presLayoutVars>
          <dgm:bulletEnabled val="1"/>
        </dgm:presLayoutVars>
      </dgm:prSet>
      <dgm:spPr/>
    </dgm:pt>
    <dgm:pt modelId="{D61489DA-9AC7-464F-9B31-87D8BC154E2B}" type="pres">
      <dgm:prSet presAssocID="{BED7EDB2-AD50-4462-BCDD-402733ACE6E6}" presName="sibTrans" presStyleLbl="sibTrans2D1" presStyleIdx="7" presStyleCnt="8"/>
      <dgm:spPr/>
    </dgm:pt>
    <dgm:pt modelId="{547AB06A-0773-425B-9AC1-7FB3E05ED2E9}" type="pres">
      <dgm:prSet presAssocID="{BED7EDB2-AD50-4462-BCDD-402733ACE6E6}" presName="connectorText" presStyleLbl="sibTrans2D1" presStyleIdx="7" presStyleCnt="8"/>
      <dgm:spPr/>
    </dgm:pt>
    <dgm:pt modelId="{1871A6A7-CF08-4DCC-A5FA-10D367610AB1}" type="pres">
      <dgm:prSet presAssocID="{7305F6AE-D5F4-44F2-A0ED-D7B27E3CC042}" presName="node" presStyleLbl="node1" presStyleIdx="8" presStyleCnt="9">
        <dgm:presLayoutVars>
          <dgm:bulletEnabled val="1"/>
        </dgm:presLayoutVars>
      </dgm:prSet>
      <dgm:spPr/>
    </dgm:pt>
  </dgm:ptLst>
  <dgm:cxnLst>
    <dgm:cxn modelId="{9C208109-4C00-4218-B8CF-59AF2F15295C}" type="presOf" srcId="{17371F44-45C7-47EA-8030-D4EB86C78D90}" destId="{6C59F18F-B997-41C6-8988-220D29BE64A3}" srcOrd="0" destOrd="0" presId="urn:microsoft.com/office/officeart/2005/8/layout/process5"/>
    <dgm:cxn modelId="{ED357614-E27E-4E73-895F-329C7F0FF42D}" srcId="{D2111F7E-1E95-406C-A2BB-40C94D78B520}" destId="{7FD9DF2C-D572-45DC-9BDF-5EF6CC1076D3}" srcOrd="1" destOrd="0" parTransId="{EBE4C3AB-4A2E-4810-A1A0-D11AC89BE86E}" sibTransId="{482F7D27-A923-44E4-B808-DB28F5E922AD}"/>
    <dgm:cxn modelId="{6950141F-E2F4-4EDF-B898-E67FB4E33926}" srcId="{D2111F7E-1E95-406C-A2BB-40C94D78B520}" destId="{D132CA3C-26A4-4339-B7C2-38666EA1E129}" srcOrd="7" destOrd="0" parTransId="{8D268B08-4B73-418E-9243-52818F2B9237}" sibTransId="{BED7EDB2-AD50-4462-BCDD-402733ACE6E6}"/>
    <dgm:cxn modelId="{25E3CF1F-CC0F-46A1-B5D6-90BF626C9203}" type="presOf" srcId="{63ECEB27-4750-4F27-8668-4439C0648198}" destId="{967AD40C-91B2-49B9-B19C-48095C1F22D3}" srcOrd="0" destOrd="0" presId="urn:microsoft.com/office/officeart/2005/8/layout/process5"/>
    <dgm:cxn modelId="{8486FE2F-C15D-44C9-A34F-F277BA2EE501}" type="presOf" srcId="{0A75A7E1-4667-4D80-BFBD-4EA96BF6E425}" destId="{19C925AF-24DF-4A2A-9DF7-FB460848BCAA}" srcOrd="0" destOrd="0" presId="urn:microsoft.com/office/officeart/2005/8/layout/process5"/>
    <dgm:cxn modelId="{2FCC1739-14E6-486D-BB67-1AA8143A1A8C}" type="presOf" srcId="{928FDBE4-85C0-4297-957C-31005387D0E4}" destId="{D8007147-8B54-4F5C-AFB9-0397F8C2544B}" srcOrd="0" destOrd="0" presId="urn:microsoft.com/office/officeart/2005/8/layout/process5"/>
    <dgm:cxn modelId="{BF536C5C-6BBA-4FE5-AA5A-44B5ECF6A42A}" srcId="{D2111F7E-1E95-406C-A2BB-40C94D78B520}" destId="{63ECEB27-4750-4F27-8668-4439C0648198}" srcOrd="4" destOrd="0" parTransId="{D5B1176C-4150-43DE-9721-DAC009EE92E9}" sibTransId="{17371F44-45C7-47EA-8030-D4EB86C78D90}"/>
    <dgm:cxn modelId="{572CBE41-F04F-45C2-9E6C-35D6CE5087FE}" type="presOf" srcId="{3BFF3B66-C40B-4CBE-A609-02C00EF774EF}" destId="{0BA33742-D3B0-4458-90DC-C7C4B2521654}" srcOrd="0" destOrd="0" presId="urn:microsoft.com/office/officeart/2005/8/layout/process5"/>
    <dgm:cxn modelId="{C121DA42-6B6C-400F-9251-CA9FEAFCE92C}" type="presOf" srcId="{482F7D27-A923-44E4-B808-DB28F5E922AD}" destId="{B2FC559D-8BDB-40EB-B0CE-75D19E7DDC12}" srcOrd="1" destOrd="0" presId="urn:microsoft.com/office/officeart/2005/8/layout/process5"/>
    <dgm:cxn modelId="{50AB8273-8310-4415-9BA3-3E7455366A40}" srcId="{D2111F7E-1E95-406C-A2BB-40C94D78B520}" destId="{7305F6AE-D5F4-44F2-A0ED-D7B27E3CC042}" srcOrd="8" destOrd="0" parTransId="{D8302EF9-8093-4A09-B6A8-BD431A16CC97}" sibTransId="{780A501B-7D55-4C21-8935-481ADBB27884}"/>
    <dgm:cxn modelId="{CE4DF773-7D6E-4120-820C-228FC4622120}" srcId="{D2111F7E-1E95-406C-A2BB-40C94D78B520}" destId="{8CCFF8DC-C8C3-4DB0-AB82-3B608C99F0A4}" srcOrd="6" destOrd="0" parTransId="{99351196-8799-4FC0-9D40-35B3688D247A}" sibTransId="{C7901E7E-EF3D-45AD-87FA-7571F9AD5EE4}"/>
    <dgm:cxn modelId="{FA93D254-CD5A-4B8D-B56B-4246179E1A60}" type="presOf" srcId="{17371F44-45C7-47EA-8030-D4EB86C78D90}" destId="{820302BE-65CC-46D5-8D3A-F1AA87B8D2D6}" srcOrd="1" destOrd="0" presId="urn:microsoft.com/office/officeart/2005/8/layout/process5"/>
    <dgm:cxn modelId="{4E8E7D78-ED26-44E5-824D-F95C15032B68}" type="presOf" srcId="{3FA26A78-CD2C-4C8F-AF0F-B06C354388E5}" destId="{D074DA12-A98D-4F16-88FD-34257BA7690E}" srcOrd="0" destOrd="0" presId="urn:microsoft.com/office/officeart/2005/8/layout/process5"/>
    <dgm:cxn modelId="{C9825279-2A50-490D-8C2D-0FF19662E720}" srcId="{D2111F7E-1E95-406C-A2BB-40C94D78B520}" destId="{3FA26A78-CD2C-4C8F-AF0F-B06C354388E5}" srcOrd="0" destOrd="0" parTransId="{512F0D21-4FBD-4B0E-8FD5-63693D8E5DF8}" sibTransId="{0A75A7E1-4667-4D80-BFBD-4EA96BF6E425}"/>
    <dgm:cxn modelId="{66599879-72AA-4C86-AFDD-771060184F04}" type="presOf" srcId="{B9C9AA54-E30C-4D41-AC2F-548AE0E328BF}" destId="{27281EF1-3AB3-40A7-94D2-CAE0D6FB7EE9}" srcOrd="1" destOrd="0" presId="urn:microsoft.com/office/officeart/2005/8/layout/process5"/>
    <dgm:cxn modelId="{4B8B297B-A84F-41DF-97C4-26222A27F4E5}" type="presOf" srcId="{A66266F8-A535-4420-AF5D-F3629BAFE2E9}" destId="{5B7E65B2-422B-4665-931D-B6DAAC30B508}" srcOrd="0" destOrd="0" presId="urn:microsoft.com/office/officeart/2005/8/layout/process5"/>
    <dgm:cxn modelId="{372AE77E-8B83-43A2-9676-FA20B1D56433}" type="presOf" srcId="{9382B0F0-5E51-43D3-9574-138FE7229333}" destId="{2712C4CF-1DD2-44A6-A85E-2315E9485D49}" srcOrd="0" destOrd="0" presId="urn:microsoft.com/office/officeart/2005/8/layout/process5"/>
    <dgm:cxn modelId="{5CAA4C80-8F39-40E9-8B1F-0B3CAFCE4C27}" type="presOf" srcId="{D2111F7E-1E95-406C-A2BB-40C94D78B520}" destId="{618CCCCD-F6FE-4CEB-A82E-EAF6525F298E}" srcOrd="0" destOrd="0" presId="urn:microsoft.com/office/officeart/2005/8/layout/process5"/>
    <dgm:cxn modelId="{41584D85-51BE-416C-A616-15AC94938DF4}" type="presOf" srcId="{C7901E7E-EF3D-45AD-87FA-7571F9AD5EE4}" destId="{06CF4FAE-8C19-4775-8E5D-AE825956CC7F}" srcOrd="0" destOrd="0" presId="urn:microsoft.com/office/officeart/2005/8/layout/process5"/>
    <dgm:cxn modelId="{497FE087-C6E8-42C8-9C1D-48C0F7BC03A1}" type="presOf" srcId="{7FD9DF2C-D572-45DC-9BDF-5EF6CC1076D3}" destId="{C045ABD8-8276-45D3-9394-1C02D43935DA}" srcOrd="0" destOrd="0" presId="urn:microsoft.com/office/officeart/2005/8/layout/process5"/>
    <dgm:cxn modelId="{B876448C-22C5-432F-A351-0F948330CC94}" type="presOf" srcId="{A66266F8-A535-4420-AF5D-F3629BAFE2E9}" destId="{C2393A88-1A3C-4B43-B7A7-DAFFAB21E13A}" srcOrd="1" destOrd="0" presId="urn:microsoft.com/office/officeart/2005/8/layout/process5"/>
    <dgm:cxn modelId="{7BB6B491-41E4-4A80-B72E-93318BE1BA39}" type="presOf" srcId="{7305F6AE-D5F4-44F2-A0ED-D7B27E3CC042}" destId="{1871A6A7-CF08-4DCC-A5FA-10D367610AB1}" srcOrd="0" destOrd="0" presId="urn:microsoft.com/office/officeart/2005/8/layout/process5"/>
    <dgm:cxn modelId="{56011F93-A6CF-4DB6-B507-5B505373639E}" type="presOf" srcId="{82C85DF4-D597-4A55-981C-B21D30233283}" destId="{CAAC3CBF-3D19-414F-82ED-02E3E2D7AB73}" srcOrd="0" destOrd="0" presId="urn:microsoft.com/office/officeart/2005/8/layout/process5"/>
    <dgm:cxn modelId="{70BC2EB5-267D-49D9-8E75-EF6E491FABD8}" type="presOf" srcId="{482F7D27-A923-44E4-B808-DB28F5E922AD}" destId="{862E6AFF-D11E-494E-AC14-7034BAC1A626}" srcOrd="0" destOrd="0" presId="urn:microsoft.com/office/officeart/2005/8/layout/process5"/>
    <dgm:cxn modelId="{24671BC1-8DDB-40D5-88D3-27F2AA82913B}" type="presOf" srcId="{0A75A7E1-4667-4D80-BFBD-4EA96BF6E425}" destId="{4A98838D-323E-476E-AD31-D3DF0075C788}" srcOrd="1" destOrd="0" presId="urn:microsoft.com/office/officeart/2005/8/layout/process5"/>
    <dgm:cxn modelId="{4FD698C6-0D0A-4316-AA34-7D83A6598B3A}" type="presOf" srcId="{C7901E7E-EF3D-45AD-87FA-7571F9AD5EE4}" destId="{7049D2D0-EEAC-485B-87E7-2A0404F6441C}" srcOrd="1" destOrd="0" presId="urn:microsoft.com/office/officeart/2005/8/layout/process5"/>
    <dgm:cxn modelId="{D59CA1C7-A2A5-46C4-A0F3-F0C18D6C7E45}" type="presOf" srcId="{8CCFF8DC-C8C3-4DB0-AB82-3B608C99F0A4}" destId="{DC8968F8-7D43-49C9-88A4-79E6FDDF1F10}" srcOrd="0" destOrd="0" presId="urn:microsoft.com/office/officeart/2005/8/layout/process5"/>
    <dgm:cxn modelId="{78775BCA-0B3D-4799-ACEA-46881AC43ABA}" srcId="{D2111F7E-1E95-406C-A2BB-40C94D78B520}" destId="{82C85DF4-D597-4A55-981C-B21D30233283}" srcOrd="3" destOrd="0" parTransId="{8E8C3ACF-328C-4019-9043-218D727B2852}" sibTransId="{9382B0F0-5E51-43D3-9574-138FE7229333}"/>
    <dgm:cxn modelId="{B69D27CC-8B88-418A-A885-FD0BB8550269}" srcId="{D2111F7E-1E95-406C-A2BB-40C94D78B520}" destId="{928FDBE4-85C0-4297-957C-31005387D0E4}" srcOrd="2" destOrd="0" parTransId="{6A0576DC-1CAB-4865-882B-0A932BDE83FB}" sibTransId="{A66266F8-A535-4420-AF5D-F3629BAFE2E9}"/>
    <dgm:cxn modelId="{875836E0-5B65-4D0D-AB32-A6CCC3E9D038}" type="presOf" srcId="{B9C9AA54-E30C-4D41-AC2F-548AE0E328BF}" destId="{0BA33EAD-819F-470C-8611-4F6DB53DADAC}" srcOrd="0" destOrd="0" presId="urn:microsoft.com/office/officeart/2005/8/layout/process5"/>
    <dgm:cxn modelId="{A492B6EC-70A3-47B7-9CE3-4DDF56D9B4D5}" type="presOf" srcId="{D132CA3C-26A4-4339-B7C2-38666EA1E129}" destId="{D55108E0-0B65-4D73-8844-3F907A5CDA84}" srcOrd="0" destOrd="0" presId="urn:microsoft.com/office/officeart/2005/8/layout/process5"/>
    <dgm:cxn modelId="{3693C6EC-6D02-4C63-8820-395F28C24DD2}" type="presOf" srcId="{9382B0F0-5E51-43D3-9574-138FE7229333}" destId="{C9B6D21B-8C4D-4615-8EBF-CFCAA2572A3E}" srcOrd="1" destOrd="0" presId="urn:microsoft.com/office/officeart/2005/8/layout/process5"/>
    <dgm:cxn modelId="{2BDAD1F1-29EB-4775-8F0E-4FBCD07C377B}" type="presOf" srcId="{BED7EDB2-AD50-4462-BCDD-402733ACE6E6}" destId="{D61489DA-9AC7-464F-9B31-87D8BC154E2B}" srcOrd="0" destOrd="0" presId="urn:microsoft.com/office/officeart/2005/8/layout/process5"/>
    <dgm:cxn modelId="{3C89A2F7-653F-4457-9734-6FCBFB9C9828}" srcId="{D2111F7E-1E95-406C-A2BB-40C94D78B520}" destId="{3BFF3B66-C40B-4CBE-A609-02C00EF774EF}" srcOrd="5" destOrd="0" parTransId="{1E86F310-E2AC-4169-849C-F5AE24007369}" sibTransId="{B9C9AA54-E30C-4D41-AC2F-548AE0E328BF}"/>
    <dgm:cxn modelId="{6C44B0FE-FF25-43EE-B7A4-37D69BC5FFE9}" type="presOf" srcId="{BED7EDB2-AD50-4462-BCDD-402733ACE6E6}" destId="{547AB06A-0773-425B-9AC1-7FB3E05ED2E9}" srcOrd="1" destOrd="0" presId="urn:microsoft.com/office/officeart/2005/8/layout/process5"/>
    <dgm:cxn modelId="{9756B12B-CECE-4A93-97F5-93729E1609E6}" type="presParOf" srcId="{618CCCCD-F6FE-4CEB-A82E-EAF6525F298E}" destId="{D074DA12-A98D-4F16-88FD-34257BA7690E}" srcOrd="0" destOrd="0" presId="urn:microsoft.com/office/officeart/2005/8/layout/process5"/>
    <dgm:cxn modelId="{D9A9BBFE-4BAB-4EBB-8A88-BED97569EB24}" type="presParOf" srcId="{618CCCCD-F6FE-4CEB-A82E-EAF6525F298E}" destId="{19C925AF-24DF-4A2A-9DF7-FB460848BCAA}" srcOrd="1" destOrd="0" presId="urn:microsoft.com/office/officeart/2005/8/layout/process5"/>
    <dgm:cxn modelId="{F93526BB-7256-4546-8A44-0022BF01AC2D}" type="presParOf" srcId="{19C925AF-24DF-4A2A-9DF7-FB460848BCAA}" destId="{4A98838D-323E-476E-AD31-D3DF0075C788}" srcOrd="0" destOrd="0" presId="urn:microsoft.com/office/officeart/2005/8/layout/process5"/>
    <dgm:cxn modelId="{F069E811-EEE5-4FE1-81DD-7FB675A325F8}" type="presParOf" srcId="{618CCCCD-F6FE-4CEB-A82E-EAF6525F298E}" destId="{C045ABD8-8276-45D3-9394-1C02D43935DA}" srcOrd="2" destOrd="0" presId="urn:microsoft.com/office/officeart/2005/8/layout/process5"/>
    <dgm:cxn modelId="{B8678C59-7AB9-4500-BAC1-5E794CFDFCC1}" type="presParOf" srcId="{618CCCCD-F6FE-4CEB-A82E-EAF6525F298E}" destId="{862E6AFF-D11E-494E-AC14-7034BAC1A626}" srcOrd="3" destOrd="0" presId="urn:microsoft.com/office/officeart/2005/8/layout/process5"/>
    <dgm:cxn modelId="{88FDB8FB-2656-4F44-B20C-DC92E46E363C}" type="presParOf" srcId="{862E6AFF-D11E-494E-AC14-7034BAC1A626}" destId="{B2FC559D-8BDB-40EB-B0CE-75D19E7DDC12}" srcOrd="0" destOrd="0" presId="urn:microsoft.com/office/officeart/2005/8/layout/process5"/>
    <dgm:cxn modelId="{F6CC1A69-BE60-4094-9F33-4EF94707DE10}" type="presParOf" srcId="{618CCCCD-F6FE-4CEB-A82E-EAF6525F298E}" destId="{D8007147-8B54-4F5C-AFB9-0397F8C2544B}" srcOrd="4" destOrd="0" presId="urn:microsoft.com/office/officeart/2005/8/layout/process5"/>
    <dgm:cxn modelId="{A56A15A0-DE88-4350-AB2F-C471B120FF12}" type="presParOf" srcId="{618CCCCD-F6FE-4CEB-A82E-EAF6525F298E}" destId="{5B7E65B2-422B-4665-931D-B6DAAC30B508}" srcOrd="5" destOrd="0" presId="urn:microsoft.com/office/officeart/2005/8/layout/process5"/>
    <dgm:cxn modelId="{72BFA139-0255-49B8-BECC-4AAB8CB2F032}" type="presParOf" srcId="{5B7E65B2-422B-4665-931D-B6DAAC30B508}" destId="{C2393A88-1A3C-4B43-B7A7-DAFFAB21E13A}" srcOrd="0" destOrd="0" presId="urn:microsoft.com/office/officeart/2005/8/layout/process5"/>
    <dgm:cxn modelId="{7A168C3F-6D71-4A9C-8BE0-5F6CCEDBA46E}" type="presParOf" srcId="{618CCCCD-F6FE-4CEB-A82E-EAF6525F298E}" destId="{CAAC3CBF-3D19-414F-82ED-02E3E2D7AB73}" srcOrd="6" destOrd="0" presId="urn:microsoft.com/office/officeart/2005/8/layout/process5"/>
    <dgm:cxn modelId="{89291DCB-9D35-471A-8E16-8D042E4328AD}" type="presParOf" srcId="{618CCCCD-F6FE-4CEB-A82E-EAF6525F298E}" destId="{2712C4CF-1DD2-44A6-A85E-2315E9485D49}" srcOrd="7" destOrd="0" presId="urn:microsoft.com/office/officeart/2005/8/layout/process5"/>
    <dgm:cxn modelId="{ABB830DB-A706-440B-9BAB-1326363C26C0}" type="presParOf" srcId="{2712C4CF-1DD2-44A6-A85E-2315E9485D49}" destId="{C9B6D21B-8C4D-4615-8EBF-CFCAA2572A3E}" srcOrd="0" destOrd="0" presId="urn:microsoft.com/office/officeart/2005/8/layout/process5"/>
    <dgm:cxn modelId="{CC4E1B26-C193-403B-B484-B72BABC2EE9F}" type="presParOf" srcId="{618CCCCD-F6FE-4CEB-A82E-EAF6525F298E}" destId="{967AD40C-91B2-49B9-B19C-48095C1F22D3}" srcOrd="8" destOrd="0" presId="urn:microsoft.com/office/officeart/2005/8/layout/process5"/>
    <dgm:cxn modelId="{8F9C6FFD-0A6A-4550-A040-5D8305CFEBDA}" type="presParOf" srcId="{618CCCCD-F6FE-4CEB-A82E-EAF6525F298E}" destId="{6C59F18F-B997-41C6-8988-220D29BE64A3}" srcOrd="9" destOrd="0" presId="urn:microsoft.com/office/officeart/2005/8/layout/process5"/>
    <dgm:cxn modelId="{96CECAE1-81C1-47A0-A5CF-6293A1EDA49A}" type="presParOf" srcId="{6C59F18F-B997-41C6-8988-220D29BE64A3}" destId="{820302BE-65CC-46D5-8D3A-F1AA87B8D2D6}" srcOrd="0" destOrd="0" presId="urn:microsoft.com/office/officeart/2005/8/layout/process5"/>
    <dgm:cxn modelId="{B82399FF-C4C0-41B0-A196-4327E35B2232}" type="presParOf" srcId="{618CCCCD-F6FE-4CEB-A82E-EAF6525F298E}" destId="{0BA33742-D3B0-4458-90DC-C7C4B2521654}" srcOrd="10" destOrd="0" presId="urn:microsoft.com/office/officeart/2005/8/layout/process5"/>
    <dgm:cxn modelId="{C99ADB95-A218-4FAD-9E97-F0F13E85C1F6}" type="presParOf" srcId="{618CCCCD-F6FE-4CEB-A82E-EAF6525F298E}" destId="{0BA33EAD-819F-470C-8611-4F6DB53DADAC}" srcOrd="11" destOrd="0" presId="urn:microsoft.com/office/officeart/2005/8/layout/process5"/>
    <dgm:cxn modelId="{40BC03F9-D35B-45DA-A78A-8131264A1CD5}" type="presParOf" srcId="{0BA33EAD-819F-470C-8611-4F6DB53DADAC}" destId="{27281EF1-3AB3-40A7-94D2-CAE0D6FB7EE9}" srcOrd="0" destOrd="0" presId="urn:microsoft.com/office/officeart/2005/8/layout/process5"/>
    <dgm:cxn modelId="{06E77A00-7B2F-48CA-B3B8-2F93CCC8036B}" type="presParOf" srcId="{618CCCCD-F6FE-4CEB-A82E-EAF6525F298E}" destId="{DC8968F8-7D43-49C9-88A4-79E6FDDF1F10}" srcOrd="12" destOrd="0" presId="urn:microsoft.com/office/officeart/2005/8/layout/process5"/>
    <dgm:cxn modelId="{2BF6F1AA-5CBC-4BE7-8169-BD6DC05A2864}" type="presParOf" srcId="{618CCCCD-F6FE-4CEB-A82E-EAF6525F298E}" destId="{06CF4FAE-8C19-4775-8E5D-AE825956CC7F}" srcOrd="13" destOrd="0" presId="urn:microsoft.com/office/officeart/2005/8/layout/process5"/>
    <dgm:cxn modelId="{EDDC4A16-F739-47EE-968A-A060B242B122}" type="presParOf" srcId="{06CF4FAE-8C19-4775-8E5D-AE825956CC7F}" destId="{7049D2D0-EEAC-485B-87E7-2A0404F6441C}" srcOrd="0" destOrd="0" presId="urn:microsoft.com/office/officeart/2005/8/layout/process5"/>
    <dgm:cxn modelId="{4BA64013-3D7C-4F60-A680-CDA5D3D3130A}" type="presParOf" srcId="{618CCCCD-F6FE-4CEB-A82E-EAF6525F298E}" destId="{D55108E0-0B65-4D73-8844-3F907A5CDA84}" srcOrd="14" destOrd="0" presId="urn:microsoft.com/office/officeart/2005/8/layout/process5"/>
    <dgm:cxn modelId="{C95A3391-D907-4CCA-BDCC-C4DBFB885EBB}" type="presParOf" srcId="{618CCCCD-F6FE-4CEB-A82E-EAF6525F298E}" destId="{D61489DA-9AC7-464F-9B31-87D8BC154E2B}" srcOrd="15" destOrd="0" presId="urn:microsoft.com/office/officeart/2005/8/layout/process5"/>
    <dgm:cxn modelId="{D31A22F0-E0BF-4822-9F7F-210ABBB7605E}" type="presParOf" srcId="{D61489DA-9AC7-464F-9B31-87D8BC154E2B}" destId="{547AB06A-0773-425B-9AC1-7FB3E05ED2E9}" srcOrd="0" destOrd="0" presId="urn:microsoft.com/office/officeart/2005/8/layout/process5"/>
    <dgm:cxn modelId="{8D1CEF1D-F5B3-428C-82DD-A8C2B5EB6174}" type="presParOf" srcId="{618CCCCD-F6FE-4CEB-A82E-EAF6525F298E}" destId="{1871A6A7-CF08-4DCC-A5FA-10D367610AB1}" srcOrd="1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74DA12-A98D-4F16-88FD-34257BA7690E}">
      <dsp:nvSpPr>
        <dsp:cNvPr id="0" name=""/>
        <dsp:cNvSpPr/>
      </dsp:nvSpPr>
      <dsp:spPr>
        <a:xfrm>
          <a:off x="1138165" y="2609"/>
          <a:ext cx="1811226" cy="108673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solidFill>
                <a:srgbClr val="002060"/>
              </a:solidFill>
            </a:rPr>
            <a:t>Historical Cryptocurrency Dataset</a:t>
          </a:r>
        </a:p>
      </dsp:txBody>
      <dsp:txXfrm>
        <a:off x="1169994" y="34438"/>
        <a:ext cx="1747568" cy="1023077"/>
      </dsp:txXfrm>
    </dsp:sp>
    <dsp:sp modelId="{19C925AF-24DF-4A2A-9DF7-FB460848BCAA}">
      <dsp:nvSpPr>
        <dsp:cNvPr id="0" name=""/>
        <dsp:cNvSpPr/>
      </dsp:nvSpPr>
      <dsp:spPr>
        <a:xfrm>
          <a:off x="3108779" y="321385"/>
          <a:ext cx="383979" cy="4491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>
            <a:solidFill>
              <a:srgbClr val="002060"/>
            </a:solidFill>
          </a:endParaRPr>
        </a:p>
      </dsp:txBody>
      <dsp:txXfrm>
        <a:off x="3108779" y="411222"/>
        <a:ext cx="268785" cy="269510"/>
      </dsp:txXfrm>
    </dsp:sp>
    <dsp:sp modelId="{C045ABD8-8276-45D3-9394-1C02D43935DA}">
      <dsp:nvSpPr>
        <dsp:cNvPr id="0" name=""/>
        <dsp:cNvSpPr/>
      </dsp:nvSpPr>
      <dsp:spPr>
        <a:xfrm>
          <a:off x="3673882" y="2609"/>
          <a:ext cx="1811226" cy="1086735"/>
        </a:xfrm>
        <a:prstGeom prst="roundRect">
          <a:avLst>
            <a:gd name="adj" fmla="val 10000"/>
          </a:avLst>
        </a:prstGeom>
        <a:solidFill>
          <a:schemeClr val="accent3">
            <a:hueOff val="388570"/>
            <a:satOff val="-5748"/>
            <a:lumOff val="1079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solidFill>
                <a:srgbClr val="002060"/>
              </a:solidFill>
            </a:rPr>
            <a:t>Data Cleaning</a:t>
          </a:r>
        </a:p>
      </dsp:txBody>
      <dsp:txXfrm>
        <a:off x="3705711" y="34438"/>
        <a:ext cx="1747568" cy="1023077"/>
      </dsp:txXfrm>
    </dsp:sp>
    <dsp:sp modelId="{862E6AFF-D11E-494E-AC14-7034BAC1A626}">
      <dsp:nvSpPr>
        <dsp:cNvPr id="0" name=""/>
        <dsp:cNvSpPr/>
      </dsp:nvSpPr>
      <dsp:spPr>
        <a:xfrm>
          <a:off x="5644496" y="321385"/>
          <a:ext cx="383979" cy="4491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444080"/>
            <a:satOff val="-6570"/>
            <a:lumOff val="123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>
            <a:solidFill>
              <a:srgbClr val="002060"/>
            </a:solidFill>
          </a:endParaRPr>
        </a:p>
      </dsp:txBody>
      <dsp:txXfrm>
        <a:off x="5644496" y="411222"/>
        <a:ext cx="268785" cy="269510"/>
      </dsp:txXfrm>
    </dsp:sp>
    <dsp:sp modelId="{D8007147-8B54-4F5C-AFB9-0397F8C2544B}">
      <dsp:nvSpPr>
        <dsp:cNvPr id="0" name=""/>
        <dsp:cNvSpPr/>
      </dsp:nvSpPr>
      <dsp:spPr>
        <a:xfrm>
          <a:off x="6209599" y="2609"/>
          <a:ext cx="1811226" cy="1086735"/>
        </a:xfrm>
        <a:prstGeom prst="roundRect">
          <a:avLst>
            <a:gd name="adj" fmla="val 10000"/>
          </a:avLst>
        </a:prstGeom>
        <a:solidFill>
          <a:schemeClr val="accent3">
            <a:hueOff val="777139"/>
            <a:satOff val="-11497"/>
            <a:lumOff val="215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solidFill>
                <a:srgbClr val="002060"/>
              </a:solidFill>
            </a:rPr>
            <a:t>Data Preprocessing</a:t>
          </a:r>
        </a:p>
      </dsp:txBody>
      <dsp:txXfrm>
        <a:off x="6241428" y="34438"/>
        <a:ext cx="1747568" cy="1023077"/>
      </dsp:txXfrm>
    </dsp:sp>
    <dsp:sp modelId="{5B7E65B2-422B-4665-931D-B6DAAC30B508}">
      <dsp:nvSpPr>
        <dsp:cNvPr id="0" name=""/>
        <dsp:cNvSpPr/>
      </dsp:nvSpPr>
      <dsp:spPr>
        <a:xfrm rot="5400000">
          <a:off x="6923222" y="1216130"/>
          <a:ext cx="383979" cy="4491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888159"/>
            <a:satOff val="-13139"/>
            <a:lumOff val="246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>
            <a:solidFill>
              <a:srgbClr val="002060"/>
            </a:solidFill>
          </a:endParaRPr>
        </a:p>
      </dsp:txBody>
      <dsp:txXfrm rot="-5400000">
        <a:off x="6980457" y="1248732"/>
        <a:ext cx="269510" cy="268785"/>
      </dsp:txXfrm>
    </dsp:sp>
    <dsp:sp modelId="{CAAC3CBF-3D19-414F-82ED-02E3E2D7AB73}">
      <dsp:nvSpPr>
        <dsp:cNvPr id="0" name=""/>
        <dsp:cNvSpPr/>
      </dsp:nvSpPr>
      <dsp:spPr>
        <a:xfrm>
          <a:off x="6209599" y="1813835"/>
          <a:ext cx="1811226" cy="1086735"/>
        </a:xfrm>
        <a:prstGeom prst="roundRect">
          <a:avLst>
            <a:gd name="adj" fmla="val 10000"/>
          </a:avLst>
        </a:prstGeom>
        <a:solidFill>
          <a:schemeClr val="accent3">
            <a:hueOff val="1165709"/>
            <a:satOff val="-17245"/>
            <a:lumOff val="32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solidFill>
                <a:srgbClr val="002060"/>
              </a:solidFill>
            </a:rPr>
            <a:t>Exploratory Data Analysis(EDA)</a:t>
          </a:r>
        </a:p>
      </dsp:txBody>
      <dsp:txXfrm>
        <a:off x="6241428" y="1845664"/>
        <a:ext cx="1747568" cy="1023077"/>
      </dsp:txXfrm>
    </dsp:sp>
    <dsp:sp modelId="{2712C4CF-1DD2-44A6-A85E-2315E9485D49}">
      <dsp:nvSpPr>
        <dsp:cNvPr id="0" name=""/>
        <dsp:cNvSpPr/>
      </dsp:nvSpPr>
      <dsp:spPr>
        <a:xfrm rot="10800000">
          <a:off x="5666231" y="2132611"/>
          <a:ext cx="383979" cy="4491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1332239"/>
            <a:satOff val="-19709"/>
            <a:lumOff val="369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>
            <a:solidFill>
              <a:srgbClr val="002060"/>
            </a:solidFill>
          </a:endParaRPr>
        </a:p>
      </dsp:txBody>
      <dsp:txXfrm rot="10800000">
        <a:off x="5781425" y="2222448"/>
        <a:ext cx="268785" cy="269510"/>
      </dsp:txXfrm>
    </dsp:sp>
    <dsp:sp modelId="{967AD40C-91B2-49B9-B19C-48095C1F22D3}">
      <dsp:nvSpPr>
        <dsp:cNvPr id="0" name=""/>
        <dsp:cNvSpPr/>
      </dsp:nvSpPr>
      <dsp:spPr>
        <a:xfrm>
          <a:off x="3673882" y="1813835"/>
          <a:ext cx="1811226" cy="1086735"/>
        </a:xfrm>
        <a:prstGeom prst="roundRect">
          <a:avLst>
            <a:gd name="adj" fmla="val 10000"/>
          </a:avLst>
        </a:prstGeom>
        <a:solidFill>
          <a:schemeClr val="accent3">
            <a:hueOff val="1554279"/>
            <a:satOff val="-22994"/>
            <a:lumOff val="431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solidFill>
                <a:srgbClr val="002060"/>
              </a:solidFill>
            </a:rPr>
            <a:t>Moving Average Analysis</a:t>
          </a:r>
        </a:p>
      </dsp:txBody>
      <dsp:txXfrm>
        <a:off x="3705711" y="1845664"/>
        <a:ext cx="1747568" cy="1023077"/>
      </dsp:txXfrm>
    </dsp:sp>
    <dsp:sp modelId="{6C59F18F-B997-41C6-8988-220D29BE64A3}">
      <dsp:nvSpPr>
        <dsp:cNvPr id="0" name=""/>
        <dsp:cNvSpPr/>
      </dsp:nvSpPr>
      <dsp:spPr>
        <a:xfrm rot="10800000">
          <a:off x="3130514" y="2132611"/>
          <a:ext cx="383979" cy="4491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1776319"/>
            <a:satOff val="-26279"/>
            <a:lumOff val="493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>
            <a:solidFill>
              <a:srgbClr val="002060"/>
            </a:solidFill>
          </a:endParaRPr>
        </a:p>
      </dsp:txBody>
      <dsp:txXfrm rot="10800000">
        <a:off x="3245708" y="2222448"/>
        <a:ext cx="268785" cy="269510"/>
      </dsp:txXfrm>
    </dsp:sp>
    <dsp:sp modelId="{0BA33742-D3B0-4458-90DC-C7C4B2521654}">
      <dsp:nvSpPr>
        <dsp:cNvPr id="0" name=""/>
        <dsp:cNvSpPr/>
      </dsp:nvSpPr>
      <dsp:spPr>
        <a:xfrm>
          <a:off x="1138165" y="1813835"/>
          <a:ext cx="1811226" cy="1086735"/>
        </a:xfrm>
        <a:prstGeom prst="roundRect">
          <a:avLst>
            <a:gd name="adj" fmla="val 10000"/>
          </a:avLst>
        </a:prstGeom>
        <a:solidFill>
          <a:schemeClr val="accent3">
            <a:hueOff val="1942848"/>
            <a:satOff val="-28742"/>
            <a:lumOff val="539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solidFill>
                <a:srgbClr val="002060"/>
              </a:solidFill>
            </a:rPr>
            <a:t>Time Series Decomposition</a:t>
          </a:r>
        </a:p>
      </dsp:txBody>
      <dsp:txXfrm>
        <a:off x="1169994" y="1845664"/>
        <a:ext cx="1747568" cy="1023077"/>
      </dsp:txXfrm>
    </dsp:sp>
    <dsp:sp modelId="{0BA33EAD-819F-470C-8611-4F6DB53DADAC}">
      <dsp:nvSpPr>
        <dsp:cNvPr id="0" name=""/>
        <dsp:cNvSpPr/>
      </dsp:nvSpPr>
      <dsp:spPr>
        <a:xfrm rot="5400000">
          <a:off x="1851788" y="3027357"/>
          <a:ext cx="383979" cy="4491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2220398"/>
            <a:satOff val="-32849"/>
            <a:lumOff val="616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>
            <a:solidFill>
              <a:srgbClr val="002060"/>
            </a:solidFill>
          </a:endParaRPr>
        </a:p>
      </dsp:txBody>
      <dsp:txXfrm rot="-5400000">
        <a:off x="1909023" y="3059959"/>
        <a:ext cx="269510" cy="268785"/>
      </dsp:txXfrm>
    </dsp:sp>
    <dsp:sp modelId="{DC8968F8-7D43-49C9-88A4-79E6FDDF1F10}">
      <dsp:nvSpPr>
        <dsp:cNvPr id="0" name=""/>
        <dsp:cNvSpPr/>
      </dsp:nvSpPr>
      <dsp:spPr>
        <a:xfrm>
          <a:off x="1138165" y="3625061"/>
          <a:ext cx="1811226" cy="1086735"/>
        </a:xfrm>
        <a:prstGeom prst="roundRect">
          <a:avLst>
            <a:gd name="adj" fmla="val 10000"/>
          </a:avLst>
        </a:prstGeom>
        <a:solidFill>
          <a:schemeClr val="accent3">
            <a:hueOff val="2331418"/>
            <a:satOff val="-34491"/>
            <a:lumOff val="647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solidFill>
                <a:srgbClr val="002060"/>
              </a:solidFill>
            </a:rPr>
            <a:t>ARIMA Model Development</a:t>
          </a:r>
        </a:p>
      </dsp:txBody>
      <dsp:txXfrm>
        <a:off x="1169994" y="3656890"/>
        <a:ext cx="1747568" cy="1023077"/>
      </dsp:txXfrm>
    </dsp:sp>
    <dsp:sp modelId="{06CF4FAE-8C19-4775-8E5D-AE825956CC7F}">
      <dsp:nvSpPr>
        <dsp:cNvPr id="0" name=""/>
        <dsp:cNvSpPr/>
      </dsp:nvSpPr>
      <dsp:spPr>
        <a:xfrm>
          <a:off x="3108779" y="3943837"/>
          <a:ext cx="383979" cy="4491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2664478"/>
            <a:satOff val="-39418"/>
            <a:lumOff val="739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>
            <a:solidFill>
              <a:srgbClr val="002060"/>
            </a:solidFill>
          </a:endParaRPr>
        </a:p>
      </dsp:txBody>
      <dsp:txXfrm>
        <a:off x="3108779" y="4033674"/>
        <a:ext cx="268785" cy="269510"/>
      </dsp:txXfrm>
    </dsp:sp>
    <dsp:sp modelId="{D55108E0-0B65-4D73-8844-3F907A5CDA84}">
      <dsp:nvSpPr>
        <dsp:cNvPr id="0" name=""/>
        <dsp:cNvSpPr/>
      </dsp:nvSpPr>
      <dsp:spPr>
        <a:xfrm>
          <a:off x="3673882" y="3625061"/>
          <a:ext cx="1811226" cy="1086735"/>
        </a:xfrm>
        <a:prstGeom prst="roundRect">
          <a:avLst>
            <a:gd name="adj" fmla="val 10000"/>
          </a:avLst>
        </a:prstGeom>
        <a:solidFill>
          <a:schemeClr val="accent3">
            <a:hueOff val="2719988"/>
            <a:satOff val="-40240"/>
            <a:lumOff val="755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solidFill>
                <a:srgbClr val="002060"/>
              </a:solidFill>
            </a:rPr>
            <a:t>Forecast Generation</a:t>
          </a:r>
        </a:p>
      </dsp:txBody>
      <dsp:txXfrm>
        <a:off x="3705711" y="3656890"/>
        <a:ext cx="1747568" cy="1023077"/>
      </dsp:txXfrm>
    </dsp:sp>
    <dsp:sp modelId="{D61489DA-9AC7-464F-9B31-87D8BC154E2B}">
      <dsp:nvSpPr>
        <dsp:cNvPr id="0" name=""/>
        <dsp:cNvSpPr/>
      </dsp:nvSpPr>
      <dsp:spPr>
        <a:xfrm>
          <a:off x="5644496" y="3943837"/>
          <a:ext cx="383979" cy="4491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3108557"/>
            <a:satOff val="-45988"/>
            <a:lumOff val="862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>
            <a:solidFill>
              <a:srgbClr val="002060"/>
            </a:solidFill>
          </a:endParaRPr>
        </a:p>
      </dsp:txBody>
      <dsp:txXfrm>
        <a:off x="5644496" y="4033674"/>
        <a:ext cx="268785" cy="269510"/>
      </dsp:txXfrm>
    </dsp:sp>
    <dsp:sp modelId="{1871A6A7-CF08-4DCC-A5FA-10D367610AB1}">
      <dsp:nvSpPr>
        <dsp:cNvPr id="0" name=""/>
        <dsp:cNvSpPr/>
      </dsp:nvSpPr>
      <dsp:spPr>
        <a:xfrm>
          <a:off x="6209599" y="3625061"/>
          <a:ext cx="1811226" cy="1086735"/>
        </a:xfrm>
        <a:prstGeom prst="roundRect">
          <a:avLst>
            <a:gd name="adj" fmla="val 10000"/>
          </a:avLst>
        </a:prstGeom>
        <a:solidFill>
          <a:schemeClr val="accent3">
            <a:hueOff val="3108557"/>
            <a:satOff val="-45988"/>
            <a:lumOff val="862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solidFill>
                <a:srgbClr val="002060"/>
              </a:solidFill>
            </a:rPr>
            <a:t>Result Analysis</a:t>
          </a:r>
        </a:p>
      </dsp:txBody>
      <dsp:txXfrm>
        <a:off x="6241428" y="3656890"/>
        <a:ext cx="1747568" cy="10230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2C36-0142-499B-B4C1-14DACDF2F26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9B8E-BA99-47B6-A0F9-A81EB3DF9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504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2C36-0142-499B-B4C1-14DACDF2F26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9B8E-BA99-47B6-A0F9-A81EB3DF9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289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2C36-0142-499B-B4C1-14DACDF2F26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9B8E-BA99-47B6-A0F9-A81EB3DF9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0063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2C36-0142-499B-B4C1-14DACDF2F26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9B8E-BA99-47B6-A0F9-A81EB3DF9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622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2C36-0142-499B-B4C1-14DACDF2F26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9B8E-BA99-47B6-A0F9-A81EB3DF9C7E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882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2C36-0142-499B-B4C1-14DACDF2F26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9B8E-BA99-47B6-A0F9-A81EB3DF9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58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2C36-0142-499B-B4C1-14DACDF2F26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9B8E-BA99-47B6-A0F9-A81EB3DF9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180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2C36-0142-499B-B4C1-14DACDF2F26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9B8E-BA99-47B6-A0F9-A81EB3DF9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3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6BFB2C36-0142-499B-B4C1-14DACDF2F26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9B8E-BA99-47B6-A0F9-A81EB3DF9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848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2C36-0142-499B-B4C1-14DACDF2F26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9B8E-BA99-47B6-A0F9-A81EB3DF9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047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2C36-0142-499B-B4C1-14DACDF2F26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9B8E-BA99-47B6-A0F9-A81EB3DF9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8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5B97D"/>
            </a:gs>
            <a:gs pos="38000">
              <a:schemeClr val="tx2">
                <a:lumMod val="60000"/>
                <a:lumOff val="40000"/>
              </a:schemeClr>
            </a:gs>
            <a:gs pos="88000">
              <a:schemeClr val="accent2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BFB2C36-0142-499B-B4C1-14DACDF2F26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DB39B8E-BA99-47B6-A0F9-A81EB3DF9C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49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mczielinski/bitcoin-historical-dat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EC8C3-5B99-A0F8-CF7F-1B7EE51AF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545" y="2023675"/>
            <a:ext cx="7854846" cy="1708876"/>
          </a:xfr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>
            <a:normAutofit/>
          </a:bodyPr>
          <a:lstStyle/>
          <a:p>
            <a:r>
              <a:rPr lang="en-GB" sz="5300" b="1" cap="none" spc="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bg2">
                      <a:lumMod val="40000"/>
                      <a:lumOff val="60000"/>
                    </a:schemeClr>
                  </a:fgClr>
                  <a:bgClr>
                    <a:schemeClr val="tx2">
                      <a:lumMod val="25000"/>
                    </a:schemeClr>
                  </a:bgClr>
                </a:pattFill>
                <a:latin typeface="Arial Black" panose="020B0A04020102020204" pitchFamily="34" charset="0"/>
              </a:rPr>
              <a:t>Crypto</a:t>
            </a:r>
            <a:br>
              <a:rPr lang="en-GB" b="1" cap="none" spc="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bg2">
                      <a:lumMod val="40000"/>
                      <a:lumOff val="60000"/>
                    </a:schemeClr>
                  </a:fgClr>
                  <a:bgClr>
                    <a:schemeClr val="tx2">
                      <a:lumMod val="25000"/>
                    </a:schemeClr>
                  </a:bgClr>
                </a:pattFill>
                <a:latin typeface="Arial Black" panose="020B0A04020102020204" pitchFamily="34" charset="0"/>
              </a:rPr>
            </a:br>
            <a:r>
              <a:rPr lang="en-GB" b="1" cap="none" spc="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bg2">
                      <a:lumMod val="40000"/>
                      <a:lumOff val="60000"/>
                    </a:schemeClr>
                  </a:fgClr>
                  <a:bgClr>
                    <a:schemeClr val="tx2">
                      <a:lumMod val="25000"/>
                    </a:schemeClr>
                  </a:bgClr>
                </a:pattFill>
                <a:latin typeface="Arial Black" panose="020B0A04020102020204" pitchFamily="34" charset="0"/>
              </a:rPr>
              <a:t> Forecasting</a:t>
            </a:r>
            <a:endParaRPr lang="en-IN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bg2">
                    <a:lumMod val="40000"/>
                    <a:lumOff val="60000"/>
                  </a:schemeClr>
                </a:fgClr>
                <a:bgClr>
                  <a:schemeClr val="tx2">
                    <a:lumMod val="25000"/>
                  </a:schemeClr>
                </a:bgClr>
              </a:pattFill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28DB2-500E-B927-6855-CC0A41F73C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167265"/>
            <a:ext cx="6801612" cy="2353455"/>
          </a:xfrm>
          <a:solidFill>
            <a:schemeClr val="tx1">
              <a:lumMod val="75000"/>
            </a:schemeClr>
          </a:solidFill>
          <a:ln>
            <a:solidFill>
              <a:schemeClr val="tx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002060"/>
                </a:solidFill>
                <a:latin typeface="Aptos" panose="020B0004020202020204" pitchFamily="34" charset="0"/>
              </a:rPr>
              <a:t>Name:</a:t>
            </a:r>
            <a:r>
              <a:rPr lang="en-IN" sz="2400" dirty="0">
                <a:solidFill>
                  <a:srgbClr val="002060"/>
                </a:solidFill>
                <a:latin typeface="Aptos" panose="020B0004020202020204" pitchFamily="34" charset="0"/>
              </a:rPr>
              <a:t> Sudipta Kar</a:t>
            </a:r>
          </a:p>
          <a:p>
            <a:r>
              <a:rPr lang="en-IN" sz="2400" dirty="0">
                <a:solidFill>
                  <a:srgbClr val="002060"/>
                </a:solidFill>
                <a:latin typeface="Aptos" panose="020B0004020202020204" pitchFamily="34" charset="0"/>
              </a:rPr>
              <a:t> </a:t>
            </a:r>
            <a:r>
              <a:rPr lang="en-IN" sz="2400" b="1" dirty="0">
                <a:solidFill>
                  <a:srgbClr val="002060"/>
                </a:solidFill>
                <a:latin typeface="Aptos" panose="020B0004020202020204" pitchFamily="34" charset="0"/>
              </a:rPr>
              <a:t>Internship:</a:t>
            </a:r>
            <a:r>
              <a:rPr lang="en-IN" sz="2400" dirty="0">
                <a:solidFill>
                  <a:srgbClr val="002060"/>
                </a:solidFill>
                <a:latin typeface="Aptos" panose="020B0004020202020204" pitchFamily="34" charset="0"/>
              </a:rPr>
              <a:t> </a:t>
            </a:r>
            <a:r>
              <a:rPr lang="en-IN" sz="2400" dirty="0" err="1">
                <a:solidFill>
                  <a:srgbClr val="002060"/>
                </a:solidFill>
                <a:latin typeface="Aptos" panose="020B0004020202020204" pitchFamily="34" charset="0"/>
              </a:rPr>
              <a:t>Naviotech</a:t>
            </a:r>
            <a:r>
              <a:rPr lang="en-IN" sz="2400" dirty="0">
                <a:solidFill>
                  <a:srgbClr val="002060"/>
                </a:solidFill>
                <a:latin typeface="Aptos" panose="020B0004020202020204" pitchFamily="34" charset="0"/>
              </a:rPr>
              <a:t> Data Science Internship </a:t>
            </a:r>
          </a:p>
          <a:p>
            <a:r>
              <a:rPr lang="en-IN" sz="2400" b="1" dirty="0">
                <a:solidFill>
                  <a:srgbClr val="002060"/>
                </a:solidFill>
                <a:latin typeface="Aptos" panose="020B0004020202020204" pitchFamily="34" charset="0"/>
              </a:rPr>
              <a:t>Project:</a:t>
            </a:r>
            <a:r>
              <a:rPr lang="en-GB" sz="2400" dirty="0">
                <a:solidFill>
                  <a:srgbClr val="002060"/>
                </a:solidFill>
                <a:latin typeface="Aptos" panose="020B0004020202020204" pitchFamily="34" charset="0"/>
              </a:rPr>
              <a:t> Crypto Forecasting </a:t>
            </a:r>
            <a:endParaRPr lang="en-IN" sz="24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r>
              <a:rPr lang="en-IN" sz="2400" dirty="0">
                <a:solidFill>
                  <a:srgbClr val="002060"/>
                </a:solidFill>
                <a:latin typeface="Aptos" panose="020B0004020202020204" pitchFamily="34" charset="0"/>
              </a:rPr>
              <a:t> </a:t>
            </a:r>
            <a:r>
              <a:rPr lang="en-IN" sz="2400" b="1" dirty="0">
                <a:solidFill>
                  <a:srgbClr val="002060"/>
                </a:solidFill>
                <a:latin typeface="Aptos" panose="020B0004020202020204" pitchFamily="34" charset="0"/>
              </a:rPr>
              <a:t>Date:</a:t>
            </a:r>
            <a:r>
              <a:rPr lang="en-IN" sz="2400" dirty="0">
                <a:solidFill>
                  <a:srgbClr val="002060"/>
                </a:solidFill>
                <a:latin typeface="Aptos" panose="020B0004020202020204" pitchFamily="34" charset="0"/>
              </a:rPr>
              <a:t> 26 July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4B1BA3-FA9F-582D-F347-FDC72F7B3248}"/>
              </a:ext>
            </a:extLst>
          </p:cNvPr>
          <p:cNvSpPr/>
          <p:nvPr/>
        </p:nvSpPr>
        <p:spPr>
          <a:xfrm>
            <a:off x="3222885" y="0"/>
            <a:ext cx="5546361" cy="20236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en-GB" sz="48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Naviotech</a:t>
            </a:r>
            <a:endParaRPr lang="en-GB" sz="48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pPr algn="ctr"/>
            <a:r>
              <a:rPr lang="en-GB" sz="32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Data Science Internship Project</a:t>
            </a:r>
            <a:endParaRPr lang="en-IN" sz="32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210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F1AE1-FC69-E9E5-96CC-C87DF36A7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19722"/>
            <a:ext cx="7729728" cy="1188720"/>
          </a:xfrm>
          <a:solidFill>
            <a:srgbClr val="F5B97D"/>
          </a:solidFill>
          <a:ln>
            <a:solidFill>
              <a:srgbClr val="F5B97D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GB" sz="36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Lucida Handwriting" panose="03010101010101010101" pitchFamily="66" charset="0"/>
              </a:rPr>
              <a:t>INTRODUCTION</a:t>
            </a:r>
            <a:endParaRPr lang="en-IN" sz="36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Lucida Handwriting" panose="03010101010101010101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8FCB6-46B0-E198-C528-EBA403394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5" y="2496456"/>
            <a:ext cx="7885321" cy="415917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000" dirty="0"/>
              <a:t>Cryptocurrency is a digital financial asset whose market prices fluctuate continuously.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/>
              <a:t>Accurate price forecasting is important for market analysis and informed decision-making.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/>
              <a:t>Time series forecasting uses historical data to identify trends and estimate future values.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/>
              <a:t>This project applies the </a:t>
            </a:r>
            <a:r>
              <a:rPr lang="en-IN" sz="2000" b="1" dirty="0"/>
              <a:t>ARIMA (</a:t>
            </a:r>
            <a:r>
              <a:rPr lang="en-IN" sz="2000" b="1" dirty="0" err="1"/>
              <a:t>AutoRegressive</a:t>
            </a:r>
            <a:r>
              <a:rPr lang="en-IN" sz="2000" b="1" dirty="0"/>
              <a:t> Integrated Moving Average)</a:t>
            </a:r>
            <a:r>
              <a:rPr lang="en-IN" sz="2000" dirty="0"/>
              <a:t> model to forecast future cryptocurrency prices.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/>
              <a:t>Python and its data science libraries were used for data analysis, visualization, and model development.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2791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3AAA8-247A-86A5-F038-E3CC5041A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037264"/>
            <a:ext cx="7729728" cy="1188720"/>
          </a:xfrm>
          <a:solidFill>
            <a:srgbClr val="F5B97D"/>
          </a:solidFill>
          <a:ln>
            <a:solidFill>
              <a:srgbClr val="F5B97D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GB" sz="36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Lucida Handwriting" panose="03010101010101010101" pitchFamily="66" charset="0"/>
              </a:rPr>
              <a:t>OBJECTIVES</a:t>
            </a:r>
            <a:endParaRPr lang="en-IN" sz="36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Lucida Handwriting" panose="03010101010101010101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9A6A9-315A-EF21-A1B4-C4068531E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788170"/>
            <a:ext cx="7729728" cy="3882452"/>
          </a:xfrm>
        </p:spPr>
        <p:txBody>
          <a:bodyPr/>
          <a:lstStyle/>
          <a:p>
            <a:r>
              <a:rPr lang="en-IN" sz="2000" dirty="0" err="1"/>
              <a:t>Analyze</a:t>
            </a:r>
            <a:r>
              <a:rPr lang="en-IN" sz="2000" dirty="0"/>
              <a:t> historical cryptocurrency price data. </a:t>
            </a:r>
          </a:p>
          <a:p>
            <a:r>
              <a:rPr lang="en-IN" sz="2000" dirty="0"/>
              <a:t>Perform data preprocessing and exploratory data analysis. </a:t>
            </a:r>
          </a:p>
          <a:p>
            <a:r>
              <a:rPr lang="en-IN" sz="2000" dirty="0"/>
              <a:t>Identify trends and patterns in the dataset. </a:t>
            </a:r>
          </a:p>
          <a:p>
            <a:r>
              <a:rPr lang="en-IN" sz="2000" dirty="0"/>
              <a:t>Develop an ARIMA-based forecasting model. </a:t>
            </a:r>
          </a:p>
          <a:p>
            <a:r>
              <a:rPr lang="en-IN" sz="2000" dirty="0"/>
              <a:t>Predict future cryptocurrency prices using historical observations. </a:t>
            </a:r>
          </a:p>
          <a:p>
            <a:r>
              <a:rPr lang="en-IN" sz="2000" dirty="0"/>
              <a:t>Evaluate the effectiveness of time series forecasting techniques.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9482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F696B-A41A-3206-677C-5DF46DCC669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5B97D"/>
          </a:solidFill>
          <a:ln>
            <a:solidFill>
              <a:srgbClr val="F5B97D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GB" sz="36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Lucida Handwriting" panose="03010101010101010101" pitchFamily="66" charset="0"/>
              </a:rPr>
              <a:t>DATASET DESCRIPTION</a:t>
            </a:r>
            <a:endParaRPr lang="en-IN" sz="36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Lucida Handwriting" panose="03010101010101010101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4FB4F-C82D-5DDF-CCBF-BEA1D0257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98426"/>
            <a:ext cx="7729728" cy="424221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Dataset Name:</a:t>
            </a:r>
            <a:r>
              <a:rPr lang="en-IN" dirty="0"/>
              <a:t> BTCUSD_1_MIN_data.csv</a:t>
            </a:r>
          </a:p>
          <a:p>
            <a:r>
              <a:rPr lang="en-IN" dirty="0"/>
              <a:t>The dataset contains historical cryptocurrency trading records collected at one-minute intervals. It includes market information required for time series forecasting.</a:t>
            </a:r>
          </a:p>
          <a:p>
            <a:r>
              <a:rPr lang="en-IN" b="1" dirty="0"/>
              <a:t>Features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Timestamp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Open Price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High Price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Low Price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Closing Price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Trading Volume 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Source:</a:t>
            </a:r>
            <a:r>
              <a:rPr lang="en-IN" dirty="0"/>
              <a:t> Kaggle Historical Cryptocurrency Dataset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dirty="0"/>
              <a:t>        URL:</a:t>
            </a:r>
            <a:r>
              <a:rPr lang="en-IN" dirty="0">
                <a:hlinkClick r:id="rId2"/>
              </a:rPr>
              <a:t>https://www.kaggle.com/datasets/mczielinski/bitcoin-historical-data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3162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5E029-AC55-679A-4388-5BA43C747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30629"/>
            <a:ext cx="7729728" cy="1265153"/>
          </a:xfrm>
          <a:solidFill>
            <a:srgbClr val="F5B97D"/>
          </a:solidFill>
          <a:ln>
            <a:solidFill>
              <a:srgbClr val="F5B97D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GB" sz="36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Lucida Handwriting" panose="03010101010101010101" pitchFamily="66" charset="0"/>
              </a:rPr>
              <a:t>TOOLS AND TECHNOLOGIES USED</a:t>
            </a:r>
            <a:endParaRPr lang="en-IN" sz="36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Lucida Handwriting" panose="03010101010101010101" pitchFamily="66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CE7CC8-B3CB-2B6C-C88C-C86FA3AAEA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7612157"/>
              </p:ext>
            </p:extLst>
          </p:nvPr>
        </p:nvGraphicFramePr>
        <p:xfrm>
          <a:off x="2230438" y="2909252"/>
          <a:ext cx="5788406" cy="3101805"/>
        </p:xfrm>
        <a:graphic>
          <a:graphicData uri="http://schemas.openxmlformats.org/drawingml/2006/table">
            <a:tbl>
              <a:tblPr/>
              <a:tblGrid>
                <a:gridCol w="1906847">
                  <a:extLst>
                    <a:ext uri="{9D8B030D-6E8A-4147-A177-3AD203B41FA5}">
                      <a16:colId xmlns:a16="http://schemas.microsoft.com/office/drawing/2014/main" val="1298202032"/>
                    </a:ext>
                  </a:extLst>
                </a:gridCol>
                <a:gridCol w="3881559">
                  <a:extLst>
                    <a:ext uri="{9D8B030D-6E8A-4147-A177-3AD203B41FA5}">
                      <a16:colId xmlns:a16="http://schemas.microsoft.com/office/drawing/2014/main" val="4209512183"/>
                    </a:ext>
                  </a:extLst>
                </a:gridCol>
              </a:tblGrid>
              <a:tr h="44311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25645"/>
                  </a:ext>
                </a:extLst>
              </a:tr>
              <a:tr h="44311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20729"/>
                  </a:ext>
                </a:extLst>
              </a:tr>
              <a:tr h="44311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504162"/>
                  </a:ext>
                </a:extLst>
              </a:tr>
              <a:tr h="44311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883377"/>
                  </a:ext>
                </a:extLst>
              </a:tr>
              <a:tr h="44311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075517"/>
                  </a:ext>
                </a:extLst>
              </a:tr>
              <a:tr h="44311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8066235"/>
                  </a:ext>
                </a:extLst>
              </a:tr>
              <a:tr h="44311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9237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A72CC37-F45C-A242-45CF-D5FAE37CC7D8}"/>
              </a:ext>
            </a:extLst>
          </p:cNvPr>
          <p:cNvSpPr txBox="1"/>
          <p:nvPr/>
        </p:nvSpPr>
        <p:spPr>
          <a:xfrm>
            <a:off x="2688415" y="1598519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Development Environment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EC2ED75-C362-A1E5-F3FD-8593516C5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059055"/>
              </p:ext>
            </p:extLst>
          </p:nvPr>
        </p:nvGraphicFramePr>
        <p:xfrm>
          <a:off x="2438399" y="2219874"/>
          <a:ext cx="7315201" cy="4480560"/>
        </p:xfrm>
        <a:graphic>
          <a:graphicData uri="http://schemas.openxmlformats.org/drawingml/2006/table">
            <a:tbl>
              <a:tblPr firstRow="1" bandRow="1"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{FABFCF23-3B69-468F-B69F-88F6DE6A72F2}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1574827969"/>
                    </a:ext>
                  </a:extLst>
                </a:gridCol>
                <a:gridCol w="3657601">
                  <a:extLst>
                    <a:ext uri="{9D8B030D-6E8A-4147-A177-3AD203B41FA5}">
                      <a16:colId xmlns:a16="http://schemas.microsoft.com/office/drawing/2014/main" val="2390592093"/>
                    </a:ext>
                  </a:extLst>
                </a:gridCol>
              </a:tblGrid>
              <a:tr h="5406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Software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Purpose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50737408"/>
                  </a:ext>
                </a:extLst>
              </a:tr>
              <a:tr h="5406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Python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Programming Language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112019689"/>
                  </a:ext>
                </a:extLst>
              </a:tr>
              <a:tr h="5406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Jupyter Notebook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Development Environment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671133998"/>
                  </a:ext>
                </a:extLst>
              </a:tr>
              <a:tr h="5406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Pandas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Data Manipulation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236945751"/>
                  </a:ext>
                </a:extLst>
              </a:tr>
              <a:tr h="5406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NumPy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Numerical Computing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065820142"/>
                  </a:ext>
                </a:extLst>
              </a:tr>
              <a:tr h="5406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Matplotlib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Data Visualization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19656331"/>
                  </a:ext>
                </a:extLst>
              </a:tr>
              <a:tr h="5406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err="1"/>
                        <a:t>Statsmodels</a:t>
                      </a:r>
                      <a:endParaRPr lang="en-IN" sz="1800" dirty="0"/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ARIMA Model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698743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9928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99792-A033-9060-7E06-3FB100BFB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29784"/>
            <a:ext cx="7729728" cy="959370"/>
          </a:xfrm>
          <a:solidFill>
            <a:srgbClr val="F5B97D"/>
          </a:solidFill>
          <a:ln>
            <a:solidFill>
              <a:srgbClr val="F5B97D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GB" sz="36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Lucida Handwriting" panose="03010101010101010101" pitchFamily="66" charset="0"/>
              </a:rPr>
              <a:t>METHODOLOGY</a:t>
            </a:r>
            <a:endParaRPr lang="en-IN" sz="36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Lucida Handwriting" panose="03010101010101010101" pitchFamily="66" charset="0"/>
            </a:endParaRP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46BBCD6C-1535-DA13-693A-8E67EB3B6D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1383322"/>
              </p:ext>
            </p:extLst>
          </p:nvPr>
        </p:nvGraphicFramePr>
        <p:xfrm>
          <a:off x="1499016" y="1813809"/>
          <a:ext cx="9158991" cy="4714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5274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65A9A-5E3F-52FC-3B78-ABF631C7F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793" y="194873"/>
            <a:ext cx="5561351" cy="1633928"/>
          </a:xfrm>
          <a:solidFill>
            <a:srgbClr val="F5B97D"/>
          </a:solidFill>
          <a:ln>
            <a:solidFill>
              <a:srgbClr val="F5B97D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GB" sz="32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Lucida Handwriting" panose="03010101010101010101" pitchFamily="66" charset="0"/>
              </a:rPr>
              <a:t>EXPLORATORY DATA ANALYSIS(EDA)</a:t>
            </a:r>
            <a:endParaRPr lang="en-IN" sz="32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Lucida Handwriting" panose="03010101010101010101" pitchFamily="66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0F8BD7-89D1-4A94-847E-850F9AB926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"/>
            <a:ext cx="6096000" cy="163392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833F79-641D-6999-E3E4-41615EBAF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793" y="1886857"/>
            <a:ext cx="5561351" cy="4588894"/>
          </a:xfrm>
        </p:spPr>
        <p:txBody>
          <a:bodyPr/>
          <a:lstStyle/>
          <a:p>
            <a:pPr marL="342900" indent="-342900" algn="l">
              <a:buClr>
                <a:schemeClr val="tx1"/>
              </a:buClr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Closing Price Over Time:</a:t>
            </a:r>
            <a:r>
              <a:rPr lang="en-IN" dirty="0">
                <a:solidFill>
                  <a:schemeClr val="tx1"/>
                </a:solidFill>
              </a:rPr>
              <a:t> Displays the variation in cryptocurrency closing prices over the historical period. The graph shows periods of growth, decline, and high volatility. </a:t>
            </a:r>
          </a:p>
          <a:p>
            <a:pPr marL="342900" indent="-342900" algn="l">
              <a:buClr>
                <a:schemeClr val="tx1"/>
              </a:buClr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7-Day Moving Average:</a:t>
            </a:r>
            <a:r>
              <a:rPr lang="en-IN" dirty="0">
                <a:solidFill>
                  <a:schemeClr val="tx1"/>
                </a:solidFill>
              </a:rPr>
              <a:t> Smooths short-term fluctuations and highlights recent price trends. </a:t>
            </a:r>
          </a:p>
          <a:p>
            <a:pPr marL="342900" indent="-342900" algn="l">
              <a:buClr>
                <a:schemeClr val="tx1"/>
              </a:buClr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30-Day Moving Average:</a:t>
            </a:r>
            <a:r>
              <a:rPr lang="en-IN" dirty="0">
                <a:solidFill>
                  <a:schemeClr val="tx1"/>
                </a:solidFill>
              </a:rPr>
              <a:t> Provides a smoother long-term trend by reducing short-term noise in the data. </a:t>
            </a:r>
          </a:p>
          <a:p>
            <a:pPr marL="342900" indent="-342900" algn="l">
              <a:buClr>
                <a:schemeClr val="tx1"/>
              </a:buClr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Time Series Decomposition:</a:t>
            </a:r>
            <a:r>
              <a:rPr lang="en-IN" dirty="0">
                <a:solidFill>
                  <a:schemeClr val="tx1"/>
                </a:solidFill>
              </a:rPr>
              <a:t> Separates the series into four components: </a:t>
            </a:r>
          </a:p>
          <a:p>
            <a:pPr marL="742950" lvl="1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</a:rPr>
              <a:t>Observed:</a:t>
            </a:r>
            <a:r>
              <a:rPr lang="en-IN" dirty="0">
                <a:solidFill>
                  <a:schemeClr val="tx1"/>
                </a:solidFill>
              </a:rPr>
              <a:t> Original closing price data. </a:t>
            </a:r>
          </a:p>
          <a:p>
            <a:pPr marL="742950" lvl="1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</a:rPr>
              <a:t>Trend:</a:t>
            </a:r>
            <a:r>
              <a:rPr lang="en-IN" dirty="0">
                <a:solidFill>
                  <a:schemeClr val="tx1"/>
                </a:solidFill>
              </a:rPr>
              <a:t> Overall long-term movement in prices. </a:t>
            </a:r>
          </a:p>
          <a:p>
            <a:pPr marL="742950" lvl="1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</a:rPr>
              <a:t>Seasonal:</a:t>
            </a:r>
            <a:r>
              <a:rPr lang="en-IN" dirty="0">
                <a:solidFill>
                  <a:schemeClr val="tx1"/>
                </a:solidFill>
              </a:rPr>
              <a:t> Repeating patterns in the data (very weak in this dataset). </a:t>
            </a:r>
          </a:p>
          <a:p>
            <a:pPr marL="742950" lvl="1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</a:rPr>
              <a:t>Residual:</a:t>
            </a:r>
            <a:r>
              <a:rPr lang="en-IN" dirty="0">
                <a:solidFill>
                  <a:schemeClr val="tx1"/>
                </a:solidFill>
              </a:rPr>
              <a:t> Random variations remaining after removing the trend and seasonal components.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BFE276-39F0-3A01-89C5-ACB3B55CB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33929"/>
            <a:ext cx="6095999" cy="16339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A5AB82-A683-CB91-C3B8-0D39D8185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267857"/>
            <a:ext cx="6096000" cy="17313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30E5F3-E67D-01DB-BDA8-A7F267FB80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999222"/>
            <a:ext cx="6095999" cy="185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803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B835C-B37D-2952-74E9-CF9B0A7C3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844" y="269823"/>
            <a:ext cx="5231566" cy="1004342"/>
          </a:xfrm>
          <a:solidFill>
            <a:srgbClr val="F5B97D"/>
          </a:solidFill>
          <a:ln>
            <a:solidFill>
              <a:srgbClr val="F5B97D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GB" sz="32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Lucida Handwriting" panose="03010101010101010101" pitchFamily="66" charset="0"/>
              </a:rPr>
              <a:t>ARIMA MODEL</a:t>
            </a:r>
            <a:endParaRPr lang="en-IN" sz="32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Lucida Handwriting" panose="03010101010101010101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9673F-B465-E9DF-62FB-3B1486B01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9844" y="2109870"/>
            <a:ext cx="4182254" cy="4335900"/>
          </a:xfrm>
        </p:spPr>
        <p:txBody>
          <a:bodyPr>
            <a:normAutofit/>
          </a:bodyPr>
          <a:lstStyle/>
          <a:p>
            <a:r>
              <a:rPr lang="en-IN" b="1" dirty="0"/>
              <a:t>ARIMA Forecasting Model</a:t>
            </a:r>
          </a:p>
          <a:p>
            <a:r>
              <a:rPr lang="en-IN" b="1" dirty="0"/>
              <a:t>Model Used</a:t>
            </a:r>
          </a:p>
          <a:p>
            <a:r>
              <a:rPr lang="en-IN" b="1" dirty="0"/>
              <a:t>ARIMA (5,1,0)</a:t>
            </a:r>
            <a:endParaRPr lang="en-IN" dirty="0"/>
          </a:p>
          <a:p>
            <a:r>
              <a:rPr lang="en-IN" b="1" dirty="0"/>
              <a:t>Why ARIMA?</a:t>
            </a:r>
          </a:p>
          <a:p>
            <a:r>
              <a:rPr lang="en-IN" dirty="0"/>
              <a:t>Suitable for time series forecasting. </a:t>
            </a:r>
          </a:p>
          <a:p>
            <a:r>
              <a:rPr lang="en-IN" dirty="0"/>
              <a:t>Captures autoregressive relationships. </a:t>
            </a:r>
          </a:p>
          <a:p>
            <a:r>
              <a:rPr lang="en-IN" dirty="0"/>
              <a:t>Uses differencing to remove non-stationarity. </a:t>
            </a:r>
          </a:p>
          <a:p>
            <a:r>
              <a:rPr lang="en-IN" dirty="0"/>
              <a:t>Generates forecasts based on historical observations. </a:t>
            </a: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39EF4B-E5D4-BD7F-0608-58D8699883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11252" y="269823"/>
            <a:ext cx="6240903" cy="30430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CEFD1F-238D-C1AF-9824-9D44A3C48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251" y="3429000"/>
            <a:ext cx="6240903" cy="31591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8B591F6-C7C1-9DC7-9248-9D380A12321C}"/>
              </a:ext>
            </a:extLst>
          </p:cNvPr>
          <p:cNvSpPr/>
          <p:nvPr/>
        </p:nvSpPr>
        <p:spPr>
          <a:xfrm>
            <a:off x="4422097" y="1802571"/>
            <a:ext cx="1289151" cy="6145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>
                <a:solidFill>
                  <a:srgbClr val="7030A0"/>
                </a:solidFill>
              </a:rPr>
              <a:t>ARIMA Summary  </a:t>
            </a:r>
          </a:p>
          <a:p>
            <a:pPr algn="ctr"/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6871D3-9984-1C15-21DC-12D7F1DD9A9A}"/>
              </a:ext>
            </a:extLst>
          </p:cNvPr>
          <p:cNvSpPr/>
          <p:nvPr/>
        </p:nvSpPr>
        <p:spPr>
          <a:xfrm>
            <a:off x="4422097" y="4347149"/>
            <a:ext cx="1289153" cy="61459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7030A0"/>
              </a:solidFill>
            </a:endParaRPr>
          </a:p>
          <a:p>
            <a:pPr algn="ctr"/>
            <a:r>
              <a:rPr lang="en-IN" dirty="0">
                <a:solidFill>
                  <a:srgbClr val="7030A0"/>
                </a:solidFill>
              </a:rPr>
              <a:t>Forecast Graph </a:t>
            </a:r>
          </a:p>
          <a:p>
            <a:pPr algn="ctr"/>
            <a:endParaRPr lang="en-IN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143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B1183-F76F-2128-5BAE-62A9B3F37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029000"/>
          </a:xfrm>
          <a:solidFill>
            <a:srgbClr val="F5B97D"/>
          </a:solidFill>
          <a:ln>
            <a:solidFill>
              <a:srgbClr val="F5B97D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GB" sz="32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Lucida Handwriting" panose="03010101010101010101" pitchFamily="66" charset="0"/>
              </a:rPr>
              <a:t>RESULTS</a:t>
            </a:r>
            <a:endParaRPr lang="en-IN" sz="32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Lucida Handwriting" panose="03010101010101010101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4BC47-D046-16DA-B83B-2C6E9C0A2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879" y="2383436"/>
            <a:ext cx="9114019" cy="4062334"/>
          </a:xfrm>
        </p:spPr>
        <p:txBody>
          <a:bodyPr>
            <a:normAutofit/>
          </a:bodyPr>
          <a:lstStyle/>
          <a:p>
            <a:r>
              <a:rPr lang="en-IN" sz="2000" b="1" dirty="0"/>
              <a:t>Forecast Results</a:t>
            </a:r>
          </a:p>
          <a:p>
            <a:r>
              <a:rPr lang="en-IN" sz="2000" dirty="0"/>
              <a:t>The developed ARIMA model successfully generated future cryptocurrency price forecasts based on historical market data.</a:t>
            </a:r>
          </a:p>
          <a:p>
            <a:r>
              <a:rPr lang="en-IN" sz="2000" b="1" dirty="0"/>
              <a:t>Key Findings</a:t>
            </a:r>
          </a:p>
          <a:p>
            <a:r>
              <a:rPr lang="en-IN" sz="2000" dirty="0"/>
              <a:t>Historical price trends were successfully </a:t>
            </a:r>
            <a:r>
              <a:rPr lang="en-IN" sz="2000" dirty="0" err="1"/>
              <a:t>modeled</a:t>
            </a:r>
            <a:r>
              <a:rPr lang="en-IN" sz="2000" dirty="0"/>
              <a:t>. </a:t>
            </a:r>
          </a:p>
          <a:p>
            <a:r>
              <a:rPr lang="en-IN" sz="2000" dirty="0"/>
              <a:t>Future price values were predicted. </a:t>
            </a:r>
          </a:p>
          <a:p>
            <a:r>
              <a:rPr lang="en-IN" sz="2000" dirty="0"/>
              <a:t>The forecasting graph illustrates expected future market movement. </a:t>
            </a:r>
          </a:p>
          <a:p>
            <a:r>
              <a:rPr lang="en-IN" sz="2000" dirty="0"/>
              <a:t>The model demonstrates the practical application of statistical forecasting methods.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8419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73C4F-FB6C-6F35-C0BE-DE04E2B94CA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60000"/>
              <a:lumOff val="40000"/>
            </a:schemeClr>
          </a:solidFill>
          <a:ln>
            <a:solidFill>
              <a:srgbClr val="F5B97D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GB" sz="32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Lucida Handwriting" panose="03010101010101010101" pitchFamily="66" charset="0"/>
              </a:rPr>
              <a:t>CONCLUSION AND FUTURE SCOPE</a:t>
            </a:r>
            <a:endParaRPr lang="en-IN" sz="32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Lucida Handwriting" panose="03010101010101010101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DCD4D-08B9-A164-B09F-022280EB9B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8572" y="2638044"/>
            <a:ext cx="4765112" cy="35014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b="1" dirty="0"/>
              <a:t>Conclusion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IN" sz="2000" dirty="0"/>
              <a:t>This project demonstrates the successful implementation of the ARIMA model for cryptocurrency price forecasting.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IN" sz="2000" dirty="0"/>
              <a:t>Historical market data was </a:t>
            </a:r>
            <a:r>
              <a:rPr lang="en-IN" sz="2000" dirty="0" err="1"/>
              <a:t>analyzed</a:t>
            </a:r>
            <a:r>
              <a:rPr lang="en-IN" sz="2000" dirty="0"/>
              <a:t>, visualized, and used to generate future price predictions.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IN" sz="2000" dirty="0"/>
              <a:t>The project highlights the usefulness of statistical time series models in financial forecasting.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08E1-5282-6A84-A218-F92D3D94B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8315" y="2638043"/>
            <a:ext cx="5040885" cy="37627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b="1" dirty="0"/>
              <a:t>Future Scope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IN" sz="2000" dirty="0"/>
              <a:t>Integrate real-time cryptocurrency data.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IN" sz="2000" dirty="0"/>
              <a:t>Compare ARIMA with advanced deep learning models such as LSTM.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IN" sz="2000" dirty="0"/>
              <a:t>Develop a Flask-based web application for live forecasting.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IN" sz="2000" dirty="0"/>
              <a:t>Improve prediction accuracy through parameter optimization.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5118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3AADE1-5CEC-A29D-4610-A2046D7603AB}"/>
              </a:ext>
            </a:extLst>
          </p:cNvPr>
          <p:cNvSpPr txBox="1"/>
          <p:nvPr/>
        </p:nvSpPr>
        <p:spPr>
          <a:xfrm>
            <a:off x="478971" y="1653309"/>
            <a:ext cx="11408229" cy="3416320"/>
          </a:xfrm>
          <a:prstGeom prst="rect">
            <a:avLst/>
          </a:prstGeom>
          <a:noFill/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GB" sz="2000" dirty="0"/>
              <a:t>					</a:t>
            </a:r>
            <a:r>
              <a:rPr lang="en-GB" sz="2000" dirty="0">
                <a:latin typeface="Lucida Handwriting" panose="03010101010101010101" pitchFamily="66" charset="0"/>
              </a:rPr>
              <a:t>      </a:t>
            </a:r>
            <a:r>
              <a:rPr lang="en-GB" sz="6000" dirty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>
                  <a:gsLst>
                    <a:gs pos="33000">
                      <a:schemeClr val="tx1"/>
                    </a:gs>
                    <a:gs pos="85000">
                      <a:schemeClr val="accent3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5000" endA="50" endPos="85000" dir="5400000" sy="-100000" algn="bl" rotWithShape="0"/>
                </a:effectLst>
                <a:latin typeface="Arial Black" panose="020B0A04020102020204" pitchFamily="34" charset="0"/>
              </a:rPr>
              <a:t>THANK  YOU</a:t>
            </a:r>
          </a:p>
          <a:p>
            <a:endParaRPr lang="en-GB" sz="2000" dirty="0">
              <a:solidFill>
                <a:schemeClr val="bg1"/>
              </a:solidFill>
              <a:latin typeface="Lucida Handwriting" panose="03010101010101010101" pitchFamily="66" charset="0"/>
            </a:endParaRPr>
          </a:p>
          <a:p>
            <a:endParaRPr lang="en-GB" sz="2000" dirty="0">
              <a:solidFill>
                <a:schemeClr val="bg1"/>
              </a:solidFill>
            </a:endParaRPr>
          </a:p>
          <a:p>
            <a:endParaRPr lang="en-GB" sz="2000" dirty="0"/>
          </a:p>
          <a:p>
            <a:r>
              <a:rPr lang="en-GB" sz="2000" dirty="0"/>
              <a:t>					</a:t>
            </a:r>
            <a:r>
              <a:rPr lang="en-GB" sz="2400" dirty="0">
                <a:latin typeface="Bradley Hand ITC" panose="03070402050302030203" pitchFamily="66" charset="0"/>
              </a:rPr>
              <a:t>Thank you for your valuable time and consideration.</a:t>
            </a:r>
          </a:p>
          <a:p>
            <a:r>
              <a:rPr lang="en-GB" sz="2400" dirty="0">
                <a:latin typeface="Bradley Hand ITC" panose="03070402050302030203" pitchFamily="66" charset="0"/>
              </a:rPr>
              <a:t>							Crypto Forecasting Using ARIMA Model</a:t>
            </a:r>
          </a:p>
          <a:p>
            <a:r>
              <a:rPr lang="en-GB" sz="2400" dirty="0">
                <a:latin typeface="Bradley Hand ITC" panose="03070402050302030203" pitchFamily="66" charset="0"/>
              </a:rPr>
              <a:t>									     Submitted by:</a:t>
            </a:r>
          </a:p>
          <a:p>
            <a:r>
              <a:rPr lang="en-GB" sz="2400" dirty="0">
                <a:latin typeface="Bradley Hand ITC" panose="03070402050302030203" pitchFamily="66" charset="0"/>
              </a:rPr>
              <a:t>										Sudipta Kar</a:t>
            </a:r>
            <a:endParaRPr lang="en-IN" sz="2400" dirty="0"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86819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303</TotalTime>
  <Words>633</Words>
  <Application>Microsoft Office PowerPoint</Application>
  <PresentationFormat>Widescreen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Arial Black</vt:lpstr>
      <vt:lpstr>Bradley Hand ITC</vt:lpstr>
      <vt:lpstr>Gill Sans MT</vt:lpstr>
      <vt:lpstr>Lucida Handwriting</vt:lpstr>
      <vt:lpstr>Wingdings</vt:lpstr>
      <vt:lpstr>Parcel</vt:lpstr>
      <vt:lpstr>Crypto  Forecasting</vt:lpstr>
      <vt:lpstr>INTRODUCTION</vt:lpstr>
      <vt:lpstr>OBJECTIVES</vt:lpstr>
      <vt:lpstr>DATASET DESCRIPTION</vt:lpstr>
      <vt:lpstr>TOOLS AND TECHNOLOGIES USED</vt:lpstr>
      <vt:lpstr>METHODOLOGY</vt:lpstr>
      <vt:lpstr>EXPLORATORY DATA ANALYSIS(EDA)</vt:lpstr>
      <vt:lpstr>ARIMA MODEL</vt:lpstr>
      <vt:lpstr>RESULTS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Sudipta Kar</dc:creator>
  <cp:lastModifiedBy>Sudipta Kar</cp:lastModifiedBy>
  <cp:revision>4</cp:revision>
  <dcterms:created xsi:type="dcterms:W3CDTF">2026-07-17T13:17:33Z</dcterms:created>
  <dcterms:modified xsi:type="dcterms:W3CDTF">2026-07-25T12:36:23Z</dcterms:modified>
</cp:coreProperties>
</file>